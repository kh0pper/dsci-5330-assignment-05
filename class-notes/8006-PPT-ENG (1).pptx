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sldIdLst>
    <p:sldId id="257" r:id="rId2"/>
    <p:sldId id="259" r:id="rId3"/>
    <p:sldId id="260" r:id="rId4"/>
    <p:sldId id="261" r:id="rId5"/>
    <p:sldId id="271" r:id="rId6"/>
    <p:sldId id="262" r:id="rId7"/>
    <p:sldId id="263" r:id="rId8"/>
    <p:sldId id="264" r:id="rId9"/>
    <p:sldId id="270"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207">
          <p15:clr>
            <a:srgbClr val="A4A3A4"/>
          </p15:clr>
        </p15:guide>
        <p15:guide id="2" orient="horz" pos="177">
          <p15:clr>
            <a:srgbClr val="A4A3A4"/>
          </p15:clr>
        </p15:guide>
        <p15:guide id="3" orient="horz" pos="3648">
          <p15:clr>
            <a:srgbClr val="A4A3A4"/>
          </p15:clr>
        </p15:guide>
        <p15:guide id="4" orient="horz" pos="552">
          <p15:clr>
            <a:srgbClr val="A4A3A4"/>
          </p15:clr>
        </p15:guide>
        <p15:guide id="5" orient="horz" pos="445">
          <p15:clr>
            <a:srgbClr val="A4A3A4"/>
          </p15:clr>
        </p15:guide>
        <p15:guide id="6" orient="horz" pos="655">
          <p15:clr>
            <a:srgbClr val="A4A3A4"/>
          </p15:clr>
        </p15:guide>
        <p15:guide id="7" pos="5566">
          <p15:clr>
            <a:srgbClr val="A4A3A4"/>
          </p15:clr>
        </p15:guide>
        <p15:guide id="8" pos="287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A1B6"/>
    <a:srgbClr val="6324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DB9A9C-E8C7-4BA8-B826-07E253C45E59}" v="35" dt="2024-07-10T15:58:07.9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74" autoAdjust="0"/>
    <p:restoredTop sz="86441" autoAdjust="0"/>
  </p:normalViewPr>
  <p:slideViewPr>
    <p:cSldViewPr snapToGrid="0">
      <p:cViewPr varScale="1">
        <p:scale>
          <a:sx n="72" d="100"/>
          <a:sy n="72" d="100"/>
        </p:scale>
        <p:origin x="1186" y="43"/>
      </p:cViewPr>
      <p:guideLst>
        <p:guide orient="horz" pos="4207"/>
        <p:guide orient="horz" pos="177"/>
        <p:guide orient="horz" pos="3648"/>
        <p:guide orient="horz" pos="552"/>
        <p:guide orient="horz" pos="445"/>
        <p:guide orient="horz" pos="655"/>
        <p:guide pos="5566"/>
        <p:guide pos="2874"/>
      </p:guideLst>
    </p:cSldViewPr>
  </p:slideViewPr>
  <p:outlineViewPr>
    <p:cViewPr>
      <p:scale>
        <a:sx n="33" d="100"/>
        <a:sy n="33" d="100"/>
      </p:scale>
      <p:origin x="0" y="0"/>
    </p:cViewPr>
    <p:sldLst>
      <p:sld r:id="rId1" collapse="1"/>
    </p:sldLst>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90F7C94-DB69-4537-A78A-0ED5988E7F61}" type="datetime1">
              <a:rPr lang="en-US" smtClean="0">
                <a:solidFill>
                  <a:prstClr val="black">
                    <a:tint val="75000"/>
                  </a:prstClr>
                </a:solidFill>
              </a:rPr>
              <a:pPr/>
              <a:t>7/10/2024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Roy D. Shapiro, Core Reading: Process Analysis, HBP No. 8007 (Boston: Harvard Business School Publishing, 2013).</a:t>
            </a:r>
          </a:p>
        </p:txBody>
      </p:sp>
      <p:sp>
        <p:nvSpPr>
          <p:cNvPr id="6" name="Slide Number Placeholder 5"/>
          <p:cNvSpPr>
            <a:spLocks noGrp="1"/>
          </p:cNvSpPr>
          <p:nvPr>
            <p:ph type="sldNum" sz="quarter" idx="12"/>
          </p:nvPr>
        </p:nvSpPr>
        <p:spPr/>
        <p:txBody>
          <a:bodyPr/>
          <a:lstStyle/>
          <a:p>
            <a:fld id="{8D10B028-39EC-4912-BB06-6A14E91D200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7765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11A717-B205-4CB9-8502-A8818FEB2DA7}" type="datetime1">
              <a:rPr lang="en-US" smtClean="0">
                <a:solidFill>
                  <a:prstClr val="black">
                    <a:tint val="75000"/>
                  </a:prstClr>
                </a:solidFill>
              </a:rPr>
              <a:pPr/>
              <a:t>7/10/2024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Roy D. Shapiro, Core Reading: Process Analysis, HBP No. 8007 (Boston: Harvard Business School Publishing, 2013).</a:t>
            </a:r>
          </a:p>
        </p:txBody>
      </p:sp>
      <p:sp>
        <p:nvSpPr>
          <p:cNvPr id="6" name="Slide Number Placeholder 5"/>
          <p:cNvSpPr>
            <a:spLocks noGrp="1"/>
          </p:cNvSpPr>
          <p:nvPr>
            <p:ph type="sldNum" sz="quarter" idx="12"/>
          </p:nvPr>
        </p:nvSpPr>
        <p:spPr/>
        <p:txBody>
          <a:bodyPr/>
          <a:lstStyle/>
          <a:p>
            <a:fld id="{8D10B028-39EC-4912-BB06-6A14E91D200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60149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C416CD-FFA6-4D53-9E0A-319A81978071}" type="datetime1">
              <a:rPr lang="en-US" smtClean="0">
                <a:solidFill>
                  <a:prstClr val="black">
                    <a:tint val="75000"/>
                  </a:prstClr>
                </a:solidFill>
              </a:rPr>
              <a:pPr/>
              <a:t>7/10/2024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Roy D. Shapiro, Core Reading: Process Analysis, HBP No. 8007 (Boston: Harvard Business School Publishing, 2013).</a:t>
            </a:r>
          </a:p>
        </p:txBody>
      </p:sp>
      <p:sp>
        <p:nvSpPr>
          <p:cNvPr id="6" name="Slide Number Placeholder 5"/>
          <p:cNvSpPr>
            <a:spLocks noGrp="1"/>
          </p:cNvSpPr>
          <p:nvPr>
            <p:ph type="sldNum" sz="quarter" idx="12"/>
          </p:nvPr>
        </p:nvSpPr>
        <p:spPr/>
        <p:txBody>
          <a:bodyPr/>
          <a:lstStyle/>
          <a:p>
            <a:fld id="{8D10B028-39EC-4912-BB06-6A14E91D200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13805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E8B9A76-E37E-4EBB-8878-64BB231B272D}" type="datetime1">
              <a:rPr lang="en-US" smtClean="0">
                <a:solidFill>
                  <a:prstClr val="black">
                    <a:tint val="75000"/>
                  </a:prstClr>
                </a:solidFill>
              </a:rPr>
              <a:pPr/>
              <a:t>7/10/2024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Roy D. Shapiro, Core Reading: Process Analysis, HBP No. 8007 (Boston: Harvard Business School Publishing, 2013).</a:t>
            </a:r>
          </a:p>
        </p:txBody>
      </p:sp>
      <p:sp>
        <p:nvSpPr>
          <p:cNvPr id="7" name="Slide Number Placeholder 6"/>
          <p:cNvSpPr>
            <a:spLocks noGrp="1"/>
          </p:cNvSpPr>
          <p:nvPr>
            <p:ph type="sldNum" sz="quarter" idx="12"/>
          </p:nvPr>
        </p:nvSpPr>
        <p:spPr/>
        <p:txBody>
          <a:bodyPr/>
          <a:lstStyle/>
          <a:p>
            <a:fld id="{8D10B028-39EC-4912-BB06-6A14E91D200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6774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776885-6092-4F3C-87A0-0EF0A79FC64E}" type="datetime1">
              <a:rPr lang="en-US" smtClean="0">
                <a:solidFill>
                  <a:prstClr val="black">
                    <a:tint val="75000"/>
                  </a:prstClr>
                </a:solidFill>
              </a:rPr>
              <a:pPr/>
              <a:t>7/10/2024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a:solidFill>
                  <a:prstClr val="black">
                    <a:tint val="75000"/>
                  </a:prstClr>
                </a:solidFill>
              </a:rPr>
              <a:t>Roy D. Shapiro, Core Reading: Process Analysis, HBP No. 8007 (Boston: Harvard Business School Publishing, 2013).</a:t>
            </a:r>
          </a:p>
        </p:txBody>
      </p:sp>
      <p:sp>
        <p:nvSpPr>
          <p:cNvPr id="9" name="Slide Number Placeholder 8"/>
          <p:cNvSpPr>
            <a:spLocks noGrp="1"/>
          </p:cNvSpPr>
          <p:nvPr>
            <p:ph type="sldNum" sz="quarter" idx="12"/>
          </p:nvPr>
        </p:nvSpPr>
        <p:spPr/>
        <p:txBody>
          <a:bodyPr/>
          <a:lstStyle/>
          <a:p>
            <a:fld id="{8D10B028-39EC-4912-BB06-6A14E91D200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05281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B063A93-30A7-4C65-9FAD-B6E8D74A4E44}" type="datetime1">
              <a:rPr lang="en-US" smtClean="0">
                <a:solidFill>
                  <a:prstClr val="black">
                    <a:tint val="75000"/>
                  </a:prstClr>
                </a:solidFill>
              </a:rPr>
              <a:pPr/>
              <a:t>7/10/2024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Roy D. Shapiro, Core Reading: Process Analysis, HBP No. 8007 (Boston: Harvard Business School Publishing, 2013).</a:t>
            </a:r>
          </a:p>
        </p:txBody>
      </p:sp>
      <p:sp>
        <p:nvSpPr>
          <p:cNvPr id="5" name="Slide Number Placeholder 4"/>
          <p:cNvSpPr>
            <a:spLocks noGrp="1"/>
          </p:cNvSpPr>
          <p:nvPr>
            <p:ph type="sldNum" sz="quarter" idx="12"/>
          </p:nvPr>
        </p:nvSpPr>
        <p:spPr/>
        <p:txBody>
          <a:bodyPr/>
          <a:lstStyle/>
          <a:p>
            <a:fld id="{8D10B028-39EC-4912-BB06-6A14E91D200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47415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DC196A-B2A4-4474-9068-1847263D21F5}" type="datetime1">
              <a:rPr lang="en-US" smtClean="0">
                <a:solidFill>
                  <a:prstClr val="black">
                    <a:tint val="75000"/>
                  </a:prstClr>
                </a:solidFill>
              </a:rPr>
              <a:pPr/>
              <a:t>7/10/2024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Roy D. Shapiro, Core Reading: Process Analysis, HBP No. 8007 (Boston: Harvard Business School Publishing, 2013).</a:t>
            </a:r>
          </a:p>
        </p:txBody>
      </p:sp>
      <p:sp>
        <p:nvSpPr>
          <p:cNvPr id="4" name="Slide Number Placeholder 3"/>
          <p:cNvSpPr>
            <a:spLocks noGrp="1"/>
          </p:cNvSpPr>
          <p:nvPr>
            <p:ph type="sldNum" sz="quarter" idx="12"/>
          </p:nvPr>
        </p:nvSpPr>
        <p:spPr/>
        <p:txBody>
          <a:bodyPr/>
          <a:lstStyle/>
          <a:p>
            <a:fld id="{8D10B028-39EC-4912-BB06-6A14E91D200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90678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E248C3A-DF47-46B8-A53D-F65B04645013}" type="datetime1">
              <a:rPr lang="en-US" smtClean="0">
                <a:solidFill>
                  <a:prstClr val="black">
                    <a:tint val="75000"/>
                  </a:prstClr>
                </a:solidFill>
              </a:rPr>
              <a:pPr/>
              <a:t>7/10/2024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Roy D. Shapiro, Core Reading: Process Analysis, HBP No. 8007 (Boston: Harvard Business School Publishing, 2013).</a:t>
            </a:r>
          </a:p>
        </p:txBody>
      </p:sp>
      <p:sp>
        <p:nvSpPr>
          <p:cNvPr id="7" name="Slide Number Placeholder 6"/>
          <p:cNvSpPr>
            <a:spLocks noGrp="1"/>
          </p:cNvSpPr>
          <p:nvPr>
            <p:ph type="sldNum" sz="quarter" idx="12"/>
          </p:nvPr>
        </p:nvSpPr>
        <p:spPr/>
        <p:txBody>
          <a:bodyPr/>
          <a:lstStyle/>
          <a:p>
            <a:fld id="{8D10B028-39EC-4912-BB06-6A14E91D200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95287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Drag picture to placeholder or click icon to add</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1A48FDF-1DD1-4AA7-9141-B0562421DF16}" type="datetime1">
              <a:rPr lang="en-US" smtClean="0">
                <a:solidFill>
                  <a:prstClr val="black">
                    <a:tint val="75000"/>
                  </a:prstClr>
                </a:solidFill>
              </a:rPr>
              <a:pPr/>
              <a:t>7/10/2024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Roy D. Shapiro, Core Reading: Process Analysis, HBP No. 8007 (Boston: Harvard Business School Publishing, 2013).</a:t>
            </a:r>
          </a:p>
        </p:txBody>
      </p:sp>
      <p:sp>
        <p:nvSpPr>
          <p:cNvPr id="7" name="Slide Number Placeholder 6"/>
          <p:cNvSpPr>
            <a:spLocks noGrp="1"/>
          </p:cNvSpPr>
          <p:nvPr>
            <p:ph type="sldNum" sz="quarter" idx="12"/>
          </p:nvPr>
        </p:nvSpPr>
        <p:spPr/>
        <p:txBody>
          <a:bodyPr/>
          <a:lstStyle/>
          <a:p>
            <a:fld id="{8D10B028-39EC-4912-BB06-6A14E91D200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07083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E7F49B-D5D8-4396-8008-C1506961A989}" type="datetime1">
              <a:rPr lang="en-US" smtClean="0">
                <a:solidFill>
                  <a:prstClr val="black">
                    <a:tint val="75000"/>
                  </a:prstClr>
                </a:solidFill>
              </a:rPr>
              <a:pPr/>
              <a:t>7/10/2024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Roy D. Shapiro, Core Reading: Process Analysis, HBP No. 8007 (Boston: Harvard Business School Publishing, 2013).</a:t>
            </a:r>
          </a:p>
        </p:txBody>
      </p:sp>
      <p:sp>
        <p:nvSpPr>
          <p:cNvPr id="6" name="Slide Number Placeholder 5"/>
          <p:cNvSpPr>
            <a:spLocks noGrp="1"/>
          </p:cNvSpPr>
          <p:nvPr>
            <p:ph type="sldNum" sz="quarter" idx="12"/>
          </p:nvPr>
        </p:nvSpPr>
        <p:spPr/>
        <p:txBody>
          <a:bodyPr/>
          <a:lstStyle/>
          <a:p>
            <a:fld id="{8D10B028-39EC-4912-BB06-6A14E91D200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8227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4784A5-B8A5-4AB9-BECF-10864B08D1C0}" type="datetime1">
              <a:rPr lang="en-US" smtClean="0">
                <a:solidFill>
                  <a:prstClr val="black">
                    <a:tint val="75000"/>
                  </a:prstClr>
                </a:solidFill>
              </a:rPr>
              <a:pPr/>
              <a:t>7/10/2024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Roy D. Shapiro, Core Reading: Process Analysis, HBP No. 8007 (Boston: Harvard Business School Publishing, 2013).</a:t>
            </a:r>
          </a:p>
        </p:txBody>
      </p:sp>
      <p:sp>
        <p:nvSpPr>
          <p:cNvPr id="6" name="Slide Number Placeholder 5"/>
          <p:cNvSpPr>
            <a:spLocks noGrp="1"/>
          </p:cNvSpPr>
          <p:nvPr>
            <p:ph type="sldNum" sz="quarter" idx="12"/>
          </p:nvPr>
        </p:nvSpPr>
        <p:spPr/>
        <p:txBody>
          <a:bodyPr/>
          <a:lstStyle/>
          <a:p>
            <a:fld id="{8D10B028-39EC-4912-BB06-6A14E91D200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2770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98AB996-7E54-4705-87F1-CE32B752B906}" type="datetime1">
              <a:rPr lang="en-US" smtClean="0">
                <a:solidFill>
                  <a:prstClr val="black">
                    <a:tint val="75000"/>
                  </a:prstClr>
                </a:solidFill>
              </a:rPr>
              <a:pPr/>
              <a:t>7/10/2024</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solidFill>
                  <a:prstClr val="black">
                    <a:tint val="75000"/>
                  </a:prstClr>
                </a:solidFill>
              </a:rPr>
              <a:t>Roy D. Shapiro, Core Reading: Process Analysis, HBP No. 8007 (Boston: Harvard Business School Publishing, 2013).</a:t>
            </a: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D10B028-39EC-4912-BB06-6A14E91D200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16363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p:cNvGrpSpPr/>
          <p:nvPr/>
        </p:nvGrpSpPr>
        <p:grpSpPr>
          <a:xfrm>
            <a:off x="-1186862" y="192118"/>
            <a:ext cx="10097591" cy="642455"/>
            <a:chOff x="-1186862" y="192118"/>
            <a:chExt cx="10097591" cy="642455"/>
          </a:xfrm>
        </p:grpSpPr>
        <p:pic>
          <p:nvPicPr>
            <p:cNvPr id="9" name="Picture 8" descr="orange_bar.png"/>
            <p:cNvPicPr>
              <a:picLocks noChangeAspect="1"/>
            </p:cNvPicPr>
            <p:nvPr/>
          </p:nvPicPr>
          <p:blipFill rotWithShape="1">
            <a:blip r:embed="rId2" cstate="screen">
              <a:extLst>
                <a:ext uri="{28A0092B-C50C-407E-A947-70E740481C1C}">
                  <a14:useLocalDpi xmlns:a14="http://schemas.microsoft.com/office/drawing/2010/main"/>
                </a:ext>
              </a:extLst>
            </a:blip>
            <a:srcRect l="-24763" r="-2"/>
            <a:stretch/>
          </p:blipFill>
          <p:spPr>
            <a:xfrm>
              <a:off x="-1186862" y="285120"/>
              <a:ext cx="5979790" cy="432000"/>
            </a:xfrm>
            <a:prstGeom prst="rect">
              <a:avLst/>
            </a:prstGeom>
            <a:effectLst>
              <a:outerShdw blurRad="76200" dist="38100" dir="2700000" algn="tl" rotWithShape="0">
                <a:srgbClr val="000000">
                  <a:alpha val="2000"/>
                </a:srgbClr>
              </a:outerShdw>
            </a:effectLst>
          </p:spPr>
        </p:pic>
        <p:sp>
          <p:nvSpPr>
            <p:cNvPr id="11" name="TextBox 10"/>
            <p:cNvSpPr txBox="1"/>
            <p:nvPr/>
          </p:nvSpPr>
          <p:spPr>
            <a:xfrm>
              <a:off x="233271" y="207360"/>
              <a:ext cx="5495321" cy="553998"/>
            </a:xfrm>
            <a:prstGeom prst="rect">
              <a:avLst/>
            </a:prstGeom>
            <a:noFill/>
          </p:spPr>
          <p:txBody>
            <a:bodyPr wrap="square" rtlCol="0">
              <a:spAutoFit/>
            </a:bodyPr>
            <a:lstStyle/>
            <a:p>
              <a:r>
                <a:rPr lang="en-US" sz="3000" spc="100" dirty="0">
                  <a:solidFill>
                    <a:schemeClr val="bg1"/>
                  </a:solidFill>
                  <a:latin typeface="Gotham Black"/>
                  <a:cs typeface="Gotham Black"/>
                </a:rPr>
                <a:t>CORE CURRICULUM</a:t>
              </a:r>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586133" y="192118"/>
              <a:ext cx="1324596" cy="642455"/>
            </a:xfrm>
            <a:prstGeom prst="rect">
              <a:avLst/>
            </a:prstGeom>
          </p:spPr>
        </p:pic>
      </p:grpSp>
      <p:sp>
        <p:nvSpPr>
          <p:cNvPr id="5" name="Title 4"/>
          <p:cNvSpPr>
            <a:spLocks noGrp="1"/>
          </p:cNvSpPr>
          <p:nvPr>
            <p:ph type="ctrTitle"/>
          </p:nvPr>
        </p:nvSpPr>
        <p:spPr>
          <a:xfrm>
            <a:off x="767438" y="1744963"/>
            <a:ext cx="7743846" cy="2294167"/>
          </a:xfrm>
        </p:spPr>
        <p:txBody>
          <a:bodyPr lIns="0" tIns="0" rIns="0" bIns="0" anchor="t" anchorCtr="0">
            <a:noAutofit/>
          </a:bodyPr>
          <a:lstStyle/>
          <a:p>
            <a:pPr marL="0" marR="0" algn="l">
              <a:lnSpc>
                <a:spcPct val="80000"/>
              </a:lnSpc>
              <a:spcBef>
                <a:spcPts val="0"/>
              </a:spcBef>
              <a:spcAft>
                <a:spcPts val="0"/>
              </a:spcAft>
            </a:pPr>
            <a:r>
              <a:rPr lang="en-US" sz="9500" dirty="0">
                <a:solidFill>
                  <a:srgbClr val="80A1B6"/>
                </a:solidFill>
                <a:latin typeface="Arial Black" panose="020B0A04020102020204" pitchFamily="34" charset="0"/>
                <a:ea typeface="Arial Unicode MS" panose="020B0604020202020204" pitchFamily="34" charset="-128"/>
                <a:cs typeface="Arial Unicode MS" panose="020B0604020202020204" pitchFamily="34" charset="-128"/>
              </a:rPr>
              <a:t>Operations Strategy</a:t>
            </a:r>
            <a:endParaRPr lang="en-US" sz="9500" dirty="0"/>
          </a:p>
        </p:txBody>
      </p:sp>
      <p:sp>
        <p:nvSpPr>
          <p:cNvPr id="3" name="Rectangle 2"/>
          <p:cNvSpPr/>
          <p:nvPr/>
        </p:nvSpPr>
        <p:spPr>
          <a:xfrm>
            <a:off x="808082" y="4779076"/>
            <a:ext cx="7812978" cy="1366159"/>
          </a:xfrm>
          <a:prstGeom prst="rect">
            <a:avLst/>
          </a:prstGeom>
        </p:spPr>
        <p:txBody>
          <a:bodyPr wrap="square" lIns="0" tIns="0" rIns="0" bIns="0" anchor="b" anchorCtr="0">
            <a:noAutofit/>
          </a:bodyPr>
          <a:lstStyle/>
          <a:p>
            <a:pPr lvl="0" eaLnBrk="0" fontAlgn="base" hangingPunct="0">
              <a:lnSpc>
                <a:spcPct val="130000"/>
              </a:lnSpc>
              <a:spcBef>
                <a:spcPct val="0"/>
              </a:spcBef>
              <a:spcAft>
                <a:spcPct val="0"/>
              </a:spcAft>
            </a:pPr>
            <a:r>
              <a:rPr lang="en-US" sz="1200" dirty="0">
                <a:solidFill>
                  <a:prstClr val="black">
                    <a:lumMod val="65000"/>
                    <a:lumOff val="35000"/>
                  </a:prstClr>
                </a:solidFill>
                <a:latin typeface="Arial"/>
                <a:ea typeface="ＭＳ Ｐゴシック" pitchFamily="1" charset="-128"/>
                <a:cs typeface="Arial"/>
              </a:rPr>
              <a:t>This PowerPoint presentation was prepared by Marco </a:t>
            </a:r>
            <a:r>
              <a:rPr lang="en-US" sz="1200" dirty="0" err="1">
                <a:solidFill>
                  <a:prstClr val="black">
                    <a:lumMod val="65000"/>
                    <a:lumOff val="35000"/>
                  </a:prstClr>
                </a:solidFill>
                <a:latin typeface="Arial"/>
                <a:ea typeface="ＭＳ Ｐゴシック" pitchFamily="1" charset="-128"/>
                <a:cs typeface="Arial"/>
              </a:rPr>
              <a:t>Iansiti</a:t>
            </a:r>
            <a:r>
              <a:rPr lang="en-US" sz="1200" dirty="0">
                <a:solidFill>
                  <a:prstClr val="black">
                    <a:lumMod val="65000"/>
                    <a:lumOff val="35000"/>
                  </a:prstClr>
                </a:solidFill>
                <a:latin typeface="Arial"/>
                <a:ea typeface="ＭＳ Ｐゴシック" pitchFamily="1" charset="-128"/>
                <a:cs typeface="Arial"/>
              </a:rPr>
              <a:t>, David Sarnoff Professor of Business Administration, Harvard Business School, and Alain </a:t>
            </a:r>
            <a:r>
              <a:rPr lang="en-US" sz="1200" dirty="0" err="1">
                <a:solidFill>
                  <a:prstClr val="black">
                    <a:lumMod val="65000"/>
                    <a:lumOff val="35000"/>
                  </a:prstClr>
                </a:solidFill>
                <a:latin typeface="Arial"/>
                <a:ea typeface="ＭＳ Ｐゴシック" pitchFamily="1" charset="-128"/>
                <a:cs typeface="Arial"/>
              </a:rPr>
              <a:t>Serels</a:t>
            </a:r>
            <a:r>
              <a:rPr lang="en-US" sz="1200" dirty="0">
                <a:solidFill>
                  <a:prstClr val="black">
                    <a:lumMod val="65000"/>
                    <a:lumOff val="35000"/>
                  </a:prstClr>
                </a:solidFill>
                <a:latin typeface="Arial"/>
                <a:ea typeface="ＭＳ Ｐゴシック" pitchFamily="1" charset="-128"/>
                <a:cs typeface="Arial"/>
              </a:rPr>
              <a:t>, HBS Research Associate, for the purpose of aiding classroom instructors in using </a:t>
            </a:r>
            <a:r>
              <a:rPr lang="en-US" sz="1200" i="1" dirty="0">
                <a:solidFill>
                  <a:prstClr val="black">
                    <a:lumMod val="65000"/>
                    <a:lumOff val="35000"/>
                  </a:prstClr>
                </a:solidFill>
                <a:latin typeface="Arial"/>
                <a:ea typeface="ＭＳ Ｐゴシック" pitchFamily="1" charset="-128"/>
                <a:cs typeface="Arial"/>
              </a:rPr>
              <a:t>Core Reading: Operations Strategy </a:t>
            </a:r>
            <a:r>
              <a:rPr lang="en-US" sz="1200" dirty="0">
                <a:solidFill>
                  <a:prstClr val="black">
                    <a:lumMod val="65000"/>
                    <a:lumOff val="35000"/>
                  </a:prstClr>
                </a:solidFill>
                <a:latin typeface="Arial"/>
                <a:ea typeface="ＭＳ Ｐゴシック" pitchFamily="1" charset="-128"/>
                <a:cs typeface="Arial"/>
              </a:rPr>
              <a:t>(HBP No. 8000). HBP Core Readings are developed solely as the basis for class discussion. They are not Intended to serve as endorsements, sources of primary data, or illustrations of effective or ineffective management. PowerPoin</a:t>
            </a:r>
            <a:r>
              <a:rPr lang="en-US" sz="1200" spc="100" dirty="0">
                <a:solidFill>
                  <a:prstClr val="black">
                    <a:lumMod val="65000"/>
                    <a:lumOff val="35000"/>
                  </a:prstClr>
                </a:solidFill>
                <a:latin typeface="Arial"/>
                <a:ea typeface="ＭＳ Ｐゴシック" pitchFamily="1" charset="-128"/>
                <a:cs typeface="Arial"/>
              </a:rPr>
              <a:t>t</a:t>
            </a:r>
            <a:r>
              <a:rPr lang="en-US" sz="1200" baseline="30000" dirty="0">
                <a:solidFill>
                  <a:prstClr val="black">
                    <a:lumMod val="65000"/>
                    <a:lumOff val="35000"/>
                  </a:prstClr>
                </a:solidFill>
                <a:latin typeface="Arial"/>
                <a:ea typeface="ＭＳ Ｐゴシック" pitchFamily="1" charset="-128"/>
                <a:cs typeface="Arial"/>
              </a:rPr>
              <a:t>®</a:t>
            </a:r>
            <a:r>
              <a:rPr lang="en-US" sz="1200" dirty="0">
                <a:solidFill>
                  <a:prstClr val="black">
                    <a:lumMod val="65000"/>
                    <a:lumOff val="35000"/>
                  </a:prstClr>
                </a:solidFill>
                <a:latin typeface="Arial"/>
                <a:ea typeface="ＭＳ Ｐゴシック" pitchFamily="1" charset="-128"/>
                <a:cs typeface="Arial"/>
              </a:rPr>
              <a:t> is a registered trademark of Microsoft Corporation.</a:t>
            </a:r>
          </a:p>
        </p:txBody>
      </p:sp>
      <p:sp>
        <p:nvSpPr>
          <p:cNvPr id="4" name="Subtitle 2"/>
          <p:cNvSpPr txBox="1">
            <a:spLocks/>
          </p:cNvSpPr>
          <p:nvPr/>
        </p:nvSpPr>
        <p:spPr>
          <a:xfrm>
            <a:off x="811429" y="6234348"/>
            <a:ext cx="7743846" cy="377397"/>
          </a:xfrm>
          <a:prstGeom prst="rect">
            <a:avLst/>
          </a:prstGeom>
        </p:spPr>
        <p:txBody>
          <a:bodyPr vert="horz" lIns="0" tIns="0" rIns="0" bIns="0" rtlCol="0" anchor="b" anchorCtr="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800" dirty="0">
                <a:latin typeface="Arial"/>
                <a:cs typeface="Arial"/>
              </a:rPr>
              <a:t>Copyright © 2013, 2024 Harvard Business School Publishing Corporation. All rights reserved.</a:t>
            </a:r>
          </a:p>
        </p:txBody>
      </p:sp>
      <p:sp>
        <p:nvSpPr>
          <p:cNvPr id="2" name="TextBox 1">
            <a:extLst>
              <a:ext uri="{FF2B5EF4-FFF2-40B4-BE49-F238E27FC236}">
                <a16:creationId xmlns:a16="http://schemas.microsoft.com/office/drawing/2014/main" id="{92B4E29D-F265-2E38-9AB6-0EDA7FD0734D}"/>
              </a:ext>
            </a:extLst>
          </p:cNvPr>
          <p:cNvSpPr txBox="1"/>
          <p:nvPr/>
        </p:nvSpPr>
        <p:spPr>
          <a:xfrm>
            <a:off x="8274016" y="6485414"/>
            <a:ext cx="636713" cy="215444"/>
          </a:xfrm>
          <a:prstGeom prst="rect">
            <a:avLst/>
          </a:prstGeom>
          <a:noFill/>
        </p:spPr>
        <p:txBody>
          <a:bodyPr wrap="none" rtlCol="0">
            <a:spAutoFit/>
          </a:bodyPr>
          <a:lstStyle/>
          <a:p>
            <a:r>
              <a:rPr lang="en-US" sz="800" b="1" dirty="0"/>
              <a:t>HBP# 8006</a:t>
            </a:r>
          </a:p>
        </p:txBody>
      </p:sp>
    </p:spTree>
    <p:extLst>
      <p:ext uri="{BB962C8B-B14F-4D97-AF65-F5344CB8AC3E}">
        <p14:creationId xmlns:p14="http://schemas.microsoft.com/office/powerpoint/2010/main" val="3707492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A00234C3-0920-26C7-4F0A-C73FC0C9B301}"/>
              </a:ext>
            </a:extLst>
          </p:cNvPr>
          <p:cNvGrpSpPr/>
          <p:nvPr/>
        </p:nvGrpSpPr>
        <p:grpSpPr>
          <a:xfrm>
            <a:off x="-1186862" y="192118"/>
            <a:ext cx="10097591" cy="642455"/>
            <a:chOff x="-1186862" y="192118"/>
            <a:chExt cx="10097591" cy="642455"/>
          </a:xfrm>
        </p:grpSpPr>
        <p:pic>
          <p:nvPicPr>
            <p:cNvPr id="15" name="Picture 14" descr="orange_bar.png">
              <a:extLst>
                <a:ext uri="{FF2B5EF4-FFF2-40B4-BE49-F238E27FC236}">
                  <a16:creationId xmlns:a16="http://schemas.microsoft.com/office/drawing/2014/main" id="{8A779C99-C1CD-6EEA-15A8-98958B11271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4763" r="-2"/>
            <a:stretch/>
          </p:blipFill>
          <p:spPr>
            <a:xfrm>
              <a:off x="-1186862" y="285120"/>
              <a:ext cx="5979790" cy="432000"/>
            </a:xfrm>
            <a:prstGeom prst="rect">
              <a:avLst/>
            </a:prstGeom>
            <a:effectLst>
              <a:outerShdw blurRad="76200" dist="38100" dir="2700000" algn="tl" rotWithShape="0">
                <a:srgbClr val="000000">
                  <a:alpha val="2000"/>
                </a:srgbClr>
              </a:outerShdw>
            </a:effectLst>
          </p:spPr>
        </p:pic>
        <p:sp>
          <p:nvSpPr>
            <p:cNvPr id="16" name="TextBox 15">
              <a:extLst>
                <a:ext uri="{FF2B5EF4-FFF2-40B4-BE49-F238E27FC236}">
                  <a16:creationId xmlns:a16="http://schemas.microsoft.com/office/drawing/2014/main" id="{7F995105-ED7D-03B2-4F84-EB35A8E87CA9}"/>
                </a:ext>
              </a:extLst>
            </p:cNvPr>
            <p:cNvSpPr txBox="1"/>
            <p:nvPr/>
          </p:nvSpPr>
          <p:spPr>
            <a:xfrm>
              <a:off x="233271" y="207360"/>
              <a:ext cx="5495321" cy="553998"/>
            </a:xfrm>
            <a:prstGeom prst="rect">
              <a:avLst/>
            </a:prstGeom>
            <a:noFill/>
          </p:spPr>
          <p:txBody>
            <a:bodyPr wrap="square" rtlCol="0">
              <a:spAutoFit/>
            </a:bodyPr>
            <a:lstStyle/>
            <a:p>
              <a:r>
                <a:rPr lang="en-US" sz="3000" spc="100" dirty="0">
                  <a:solidFill>
                    <a:schemeClr val="bg1"/>
                  </a:solidFill>
                  <a:latin typeface="Gotham Black"/>
                  <a:cs typeface="Gotham Black"/>
                </a:rPr>
                <a:t>CORE CURRICULUM</a:t>
              </a:r>
            </a:p>
          </p:txBody>
        </p:sp>
        <p:pic>
          <p:nvPicPr>
            <p:cNvPr id="17" name="Picture 16">
              <a:extLst>
                <a:ext uri="{FF2B5EF4-FFF2-40B4-BE49-F238E27FC236}">
                  <a16:creationId xmlns:a16="http://schemas.microsoft.com/office/drawing/2014/main" id="{2F5EC520-9CE2-D5C3-E113-1F15604450C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586133" y="192118"/>
              <a:ext cx="1324596" cy="642455"/>
            </a:xfrm>
            <a:prstGeom prst="rect">
              <a:avLst/>
            </a:prstGeom>
          </p:spPr>
        </p:pic>
      </p:grpSp>
      <p:sp>
        <p:nvSpPr>
          <p:cNvPr id="7" name="Title 5"/>
          <p:cNvSpPr txBox="1">
            <a:spLocks noGrp="1"/>
          </p:cNvSpPr>
          <p:nvPr>
            <p:ph type="title" idx="4294967295"/>
          </p:nvPr>
        </p:nvSpPr>
        <p:spPr>
          <a:xfrm>
            <a:off x="317500" y="823767"/>
            <a:ext cx="8201787" cy="58665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rial"/>
                <a:ea typeface="+mj-ea"/>
                <a:cs typeface="Arial"/>
              </a:rPr>
              <a:t>Operations Strategy Connects Directed and Emergent Strategies </a:t>
            </a:r>
            <a:endParaRPr kumimoji="0" lang="en-US" sz="3200" b="0" i="0" u="none" strike="noStrike" kern="1200" cap="none" spc="0" normalizeH="0" baseline="0" noProof="0" dirty="0">
              <a:ln>
                <a:noFill/>
              </a:ln>
              <a:solidFill>
                <a:schemeClr val="tx1"/>
              </a:solidFill>
              <a:effectLst/>
              <a:uLnTx/>
              <a:uFillTx/>
              <a:latin typeface="Arial"/>
              <a:ea typeface="Arial Unicode MS" panose="020B0604020202020204" pitchFamily="34" charset="-128"/>
              <a:cs typeface="Arial"/>
            </a:endParaRPr>
          </a:p>
        </p:txBody>
      </p:sp>
      <p:pic>
        <p:nvPicPr>
          <p:cNvPr id="4" name="Picture 3" descr="A diagram illustrates the relationship between Directed Strategy and Emergent Strategy in an organization. In a triangle, representing the organization, “Directed Strategy” appears at the top, with arrows pointing below, and “Emergent Strategy” is below, with arrows pointing up.  At the top, alongside “Directed Strategy,” “Leadership” appears with subitems “mission” and “vision.” At the bottom, “Execution” examples are “resource allocation” and “process and capabilities.” Positioned between Leadership and Execution is “Operations Strategy,” including “aligning resources” and “driving and responding to strategy.” ">
            <a:extLst>
              <a:ext uri="{FF2B5EF4-FFF2-40B4-BE49-F238E27FC236}">
                <a16:creationId xmlns:a16="http://schemas.microsoft.com/office/drawing/2014/main" id="{9ECBEFC9-23DC-7B15-5E49-44E44E657E89}"/>
              </a:ext>
            </a:extLst>
          </p:cNvPr>
          <p:cNvPicPr>
            <a:picLocks noChangeAspect="1"/>
          </p:cNvPicPr>
          <p:nvPr/>
        </p:nvPicPr>
        <p:blipFill>
          <a:blip r:embed="rId4" cstate="print">
            <a:extLst>
              <a:ext uri="{28A0092B-C50C-407E-A947-70E740481C1C}">
                <a14:useLocalDpi xmlns:a14="http://schemas.microsoft.com/office/drawing/2010/main" val="0"/>
              </a:ext>
            </a:extLst>
          </a:blip>
          <a:srcRect t="3822" b="3822"/>
          <a:stretch>
            <a:fillRect/>
          </a:stretch>
        </p:blipFill>
        <p:spPr bwMode="auto">
          <a:xfrm>
            <a:off x="1919335" y="1987970"/>
            <a:ext cx="5572092" cy="3026976"/>
          </a:xfrm>
          <a:prstGeom prst="rect">
            <a:avLst/>
          </a:prstGeom>
          <a:noFill/>
          <a:ln>
            <a:noFill/>
          </a:ln>
          <a:extLst>
            <a:ext uri="{53640926-AAD7-44D8-BBD7-CCE9431645EC}">
              <a14:shadowObscured xmlns:a14="http://schemas.microsoft.com/office/drawing/2010/main"/>
            </a:ext>
          </a:extLst>
        </p:spPr>
      </p:pic>
      <p:sp>
        <p:nvSpPr>
          <p:cNvPr id="9" name="TextBox 8"/>
          <p:cNvSpPr txBox="1"/>
          <p:nvPr/>
        </p:nvSpPr>
        <p:spPr>
          <a:xfrm>
            <a:off x="317501" y="5708252"/>
            <a:ext cx="8291286" cy="861780"/>
          </a:xfrm>
          <a:prstGeom prst="rect">
            <a:avLst/>
          </a:prstGeom>
          <a:noFill/>
        </p:spPr>
        <p:txBody>
          <a:bodyPr wrap="square" lIns="0" tIns="0" rIns="0" bIns="0" rtlCol="0" anchor="b" anchorCtr="0">
            <a:noAutofit/>
          </a:bodyPr>
          <a:lstStyle/>
          <a:p>
            <a:pPr>
              <a:lnSpc>
                <a:spcPct val="110000"/>
              </a:lnSpc>
            </a:pPr>
            <a:endParaRPr lang="en-US" sz="800" dirty="0">
              <a:solidFill>
                <a:srgbClr val="7F7F7F"/>
              </a:solidFill>
              <a:latin typeface="Arial"/>
              <a:cs typeface="Arial"/>
            </a:endParaRPr>
          </a:p>
          <a:p>
            <a:pPr>
              <a:lnSpc>
                <a:spcPct val="110000"/>
              </a:lnSpc>
            </a:pPr>
            <a:r>
              <a:rPr lang="en-US" sz="800" dirty="0">
                <a:solidFill>
                  <a:srgbClr val="7F7F7F"/>
                </a:solidFill>
                <a:latin typeface="Arial"/>
                <a:cs typeface="Arial"/>
              </a:rPr>
              <a:t>Marco </a:t>
            </a:r>
            <a:r>
              <a:rPr lang="en-US" sz="800" dirty="0" err="1">
                <a:solidFill>
                  <a:srgbClr val="7F7F7F"/>
                </a:solidFill>
                <a:latin typeface="Arial"/>
                <a:cs typeface="Arial"/>
              </a:rPr>
              <a:t>Iansiti</a:t>
            </a:r>
            <a:r>
              <a:rPr lang="en-US" sz="800" dirty="0">
                <a:solidFill>
                  <a:srgbClr val="7F7F7F"/>
                </a:solidFill>
                <a:latin typeface="Arial"/>
                <a:cs typeface="Arial"/>
              </a:rPr>
              <a:t> and Alain </a:t>
            </a:r>
            <a:r>
              <a:rPr lang="en-US" sz="800" dirty="0" err="1">
                <a:solidFill>
                  <a:srgbClr val="7F7F7F"/>
                </a:solidFill>
                <a:latin typeface="Arial"/>
                <a:cs typeface="Arial"/>
              </a:rPr>
              <a:t>Serels</a:t>
            </a:r>
            <a:r>
              <a:rPr lang="en-US" sz="800" dirty="0">
                <a:solidFill>
                  <a:srgbClr val="7F7F7F"/>
                </a:solidFill>
                <a:latin typeface="Arial"/>
                <a:cs typeface="Arial"/>
              </a:rPr>
              <a:t>, </a:t>
            </a:r>
            <a:r>
              <a:rPr lang="en-US" sz="800" i="1" dirty="0">
                <a:solidFill>
                  <a:srgbClr val="7F7F7F"/>
                </a:solidFill>
                <a:latin typeface="Arial"/>
                <a:cs typeface="Arial"/>
              </a:rPr>
              <a:t>Core Reading: Operations Strategy</a:t>
            </a:r>
            <a:r>
              <a:rPr lang="en-US" sz="800" dirty="0">
                <a:solidFill>
                  <a:srgbClr val="7F7F7F"/>
                </a:solidFill>
                <a:latin typeface="Arial"/>
                <a:cs typeface="Arial"/>
              </a:rPr>
              <a:t>, HBP No. 8000 (Boston: Harvard Business School Publishing, 2013, 2024). </a:t>
            </a:r>
            <a:r>
              <a:rPr lang="en-US" sz="800" dirty="0">
                <a:solidFill>
                  <a:schemeClr val="bg1">
                    <a:lumMod val="50000"/>
                  </a:schemeClr>
                </a:solidFill>
                <a:latin typeface="Arial"/>
                <a:ea typeface="MS Mincho"/>
                <a:cs typeface="Arial"/>
              </a:rPr>
              <a:t>© </a:t>
            </a:r>
            <a:r>
              <a:rPr lang="en-US" sz="800" dirty="0">
                <a:solidFill>
                  <a:srgbClr val="7F7F7F"/>
                </a:solidFill>
                <a:latin typeface="Arial"/>
                <a:cs typeface="Arial"/>
              </a:rPr>
              <a:t>Copying or posting is an infringement of copyright. </a:t>
            </a:r>
          </a:p>
        </p:txBody>
      </p:sp>
    </p:spTree>
    <p:extLst>
      <p:ext uri="{BB962C8B-B14F-4D97-AF65-F5344CB8AC3E}">
        <p14:creationId xmlns:p14="http://schemas.microsoft.com/office/powerpoint/2010/main" val="2967594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EF81987-60AE-07C6-BF49-7B61AADF23FF}"/>
              </a:ext>
            </a:extLst>
          </p:cNvPr>
          <p:cNvGrpSpPr/>
          <p:nvPr/>
        </p:nvGrpSpPr>
        <p:grpSpPr>
          <a:xfrm>
            <a:off x="-1186862" y="192118"/>
            <a:ext cx="10097591" cy="642455"/>
            <a:chOff x="-1186862" y="192118"/>
            <a:chExt cx="10097591" cy="642455"/>
          </a:xfrm>
        </p:grpSpPr>
        <p:pic>
          <p:nvPicPr>
            <p:cNvPr id="15" name="Picture 14" descr="orange_bar.png">
              <a:extLst>
                <a:ext uri="{FF2B5EF4-FFF2-40B4-BE49-F238E27FC236}">
                  <a16:creationId xmlns:a16="http://schemas.microsoft.com/office/drawing/2014/main" id="{634C677E-9550-4BB6-8280-D696CA78495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4763" r="-2"/>
            <a:stretch/>
          </p:blipFill>
          <p:spPr>
            <a:xfrm>
              <a:off x="-1186862" y="285120"/>
              <a:ext cx="5979790" cy="432000"/>
            </a:xfrm>
            <a:prstGeom prst="rect">
              <a:avLst/>
            </a:prstGeom>
            <a:effectLst>
              <a:outerShdw blurRad="76200" dist="38100" dir="2700000" algn="tl" rotWithShape="0">
                <a:srgbClr val="000000">
                  <a:alpha val="2000"/>
                </a:srgbClr>
              </a:outerShdw>
            </a:effectLst>
          </p:spPr>
        </p:pic>
        <p:sp>
          <p:nvSpPr>
            <p:cNvPr id="16" name="TextBox 15">
              <a:extLst>
                <a:ext uri="{FF2B5EF4-FFF2-40B4-BE49-F238E27FC236}">
                  <a16:creationId xmlns:a16="http://schemas.microsoft.com/office/drawing/2014/main" id="{A1850FA7-1F93-7F0D-C73F-E7E55B574174}"/>
                </a:ext>
              </a:extLst>
            </p:cNvPr>
            <p:cNvSpPr txBox="1"/>
            <p:nvPr/>
          </p:nvSpPr>
          <p:spPr>
            <a:xfrm>
              <a:off x="233271" y="207360"/>
              <a:ext cx="5495321" cy="553998"/>
            </a:xfrm>
            <a:prstGeom prst="rect">
              <a:avLst/>
            </a:prstGeom>
            <a:noFill/>
          </p:spPr>
          <p:txBody>
            <a:bodyPr wrap="square" rtlCol="0">
              <a:spAutoFit/>
            </a:bodyPr>
            <a:lstStyle/>
            <a:p>
              <a:r>
                <a:rPr lang="en-US" sz="3000" spc="100" dirty="0">
                  <a:solidFill>
                    <a:schemeClr val="bg1"/>
                  </a:solidFill>
                  <a:latin typeface="Gotham Black"/>
                  <a:cs typeface="Gotham Black"/>
                </a:rPr>
                <a:t>CORE CURRICULUM</a:t>
              </a:r>
            </a:p>
          </p:txBody>
        </p:sp>
        <p:pic>
          <p:nvPicPr>
            <p:cNvPr id="17" name="Picture 16">
              <a:extLst>
                <a:ext uri="{FF2B5EF4-FFF2-40B4-BE49-F238E27FC236}">
                  <a16:creationId xmlns:a16="http://schemas.microsoft.com/office/drawing/2014/main" id="{0C7B55ED-26F6-CAC7-3359-3B4F84B0AB1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586133" y="192118"/>
              <a:ext cx="1324596" cy="642455"/>
            </a:xfrm>
            <a:prstGeom prst="rect">
              <a:avLst/>
            </a:prstGeom>
          </p:spPr>
        </p:pic>
      </p:grpSp>
      <p:sp>
        <p:nvSpPr>
          <p:cNvPr id="7" name="Title 5"/>
          <p:cNvSpPr txBox="1">
            <a:spLocks noGrp="1"/>
          </p:cNvSpPr>
          <p:nvPr>
            <p:ph type="title" idx="4294967295"/>
          </p:nvPr>
        </p:nvSpPr>
        <p:spPr>
          <a:xfrm>
            <a:off x="317500" y="823767"/>
            <a:ext cx="8201787" cy="58665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rial"/>
                <a:ea typeface="+mj-ea"/>
                <a:cs typeface="Arial"/>
              </a:rPr>
              <a:t>Strategy Hierarchy</a:t>
            </a:r>
            <a:endParaRPr kumimoji="0" lang="en-US" sz="3200" b="0" i="0" u="none" strike="noStrike" kern="1200" cap="none" spc="0" normalizeH="0" baseline="0" noProof="0" dirty="0">
              <a:ln>
                <a:noFill/>
              </a:ln>
              <a:solidFill>
                <a:schemeClr val="tx1"/>
              </a:solidFill>
              <a:effectLst/>
              <a:uLnTx/>
              <a:uFillTx/>
              <a:latin typeface="Arial"/>
              <a:ea typeface="Arial Unicode MS" panose="020B0604020202020204" pitchFamily="34" charset="-128"/>
              <a:cs typeface="Arial"/>
            </a:endParaRPr>
          </a:p>
        </p:txBody>
      </p:sp>
      <p:pic>
        <p:nvPicPr>
          <p:cNvPr id="4" name="Picture 3" descr="A chart modeling a hierarchy with three levels: Corporate Strategy, Business Unit Strategy, and Functional Unit Strategy (indicated in blue). Within these three levels are boxes representing a unit strategy. From Corporate Strategy, an arrow points to the Business Unit Strategy level and three Business Unit strategies: Business A, B, and C. Each Business Unit Strategy points to its dedicated Functional Unit Strategy: Operations Strategy, Marketing Strategy, and Finance Strategy. ">
            <a:extLst>
              <a:ext uri="{FF2B5EF4-FFF2-40B4-BE49-F238E27FC236}">
                <a16:creationId xmlns:a16="http://schemas.microsoft.com/office/drawing/2014/main" id="{906B09E6-C45F-3883-C61B-64EBC25264D6}"/>
              </a:ext>
            </a:extLst>
          </p:cNvPr>
          <p:cNvPicPr>
            <a:picLocks noChangeAspect="1"/>
          </p:cNvPicPr>
          <p:nvPr/>
        </p:nvPicPr>
        <p:blipFill>
          <a:blip r:embed="rId4" cstate="print">
            <a:extLst>
              <a:ext uri="{28A0092B-C50C-407E-A947-70E740481C1C}">
                <a14:useLocalDpi xmlns:a14="http://schemas.microsoft.com/office/drawing/2010/main" val="0"/>
              </a:ext>
            </a:extLst>
          </a:blip>
          <a:srcRect t="21347" b="21347"/>
          <a:stretch>
            <a:fillRect/>
          </a:stretch>
        </p:blipFill>
        <p:spPr bwMode="auto">
          <a:xfrm>
            <a:off x="1162055" y="1819748"/>
            <a:ext cx="6541721" cy="3087230"/>
          </a:xfrm>
          <a:prstGeom prst="rect">
            <a:avLst/>
          </a:prstGeom>
          <a:noFill/>
          <a:ln>
            <a:noFill/>
          </a:ln>
        </p:spPr>
      </p:pic>
      <p:sp>
        <p:nvSpPr>
          <p:cNvPr id="9" name="TextBox 8"/>
          <p:cNvSpPr txBox="1"/>
          <p:nvPr/>
        </p:nvSpPr>
        <p:spPr>
          <a:xfrm>
            <a:off x="317501" y="5708252"/>
            <a:ext cx="8291286" cy="861780"/>
          </a:xfrm>
          <a:prstGeom prst="rect">
            <a:avLst/>
          </a:prstGeom>
          <a:noFill/>
        </p:spPr>
        <p:txBody>
          <a:bodyPr wrap="square" lIns="0" tIns="0" rIns="0" bIns="0" rtlCol="0" anchor="b" anchorCtr="0">
            <a:noAutofit/>
          </a:bodyPr>
          <a:lstStyle/>
          <a:p>
            <a:pPr>
              <a:lnSpc>
                <a:spcPct val="110000"/>
              </a:lnSpc>
            </a:pPr>
            <a:r>
              <a:rPr lang="en-US" sz="800" dirty="0">
                <a:solidFill>
                  <a:srgbClr val="7F7F7F"/>
                </a:solidFill>
                <a:latin typeface="Arial"/>
                <a:cs typeface="Arial"/>
              </a:rPr>
              <a:t>Source: Reprinted and adapted by permission from Robert H. Hayes and Steven C. Wheelwright, </a:t>
            </a:r>
            <a:r>
              <a:rPr lang="en-US" sz="800" i="1" dirty="0">
                <a:solidFill>
                  <a:srgbClr val="7F7F7F"/>
                </a:solidFill>
                <a:latin typeface="Arial"/>
                <a:cs typeface="Arial"/>
              </a:rPr>
              <a:t>Restoring Our Competitive Edge: Competing Through Manufacturing </a:t>
            </a:r>
            <a:r>
              <a:rPr lang="en-US" sz="800" dirty="0">
                <a:solidFill>
                  <a:srgbClr val="7F7F7F"/>
                </a:solidFill>
                <a:latin typeface="Arial"/>
                <a:cs typeface="Arial"/>
              </a:rPr>
              <a:t>(New York: John Wiley &amp; Sons, 1984), p. 28. Copyright © 1984 by John Wiley &amp; Sons</a:t>
            </a:r>
          </a:p>
          <a:p>
            <a:pPr>
              <a:lnSpc>
                <a:spcPct val="110000"/>
              </a:lnSpc>
            </a:pPr>
            <a:endParaRPr lang="en-US" sz="800" dirty="0">
              <a:solidFill>
                <a:srgbClr val="7F7F7F"/>
              </a:solidFill>
              <a:latin typeface="Arial"/>
              <a:cs typeface="Arial"/>
            </a:endParaRPr>
          </a:p>
          <a:p>
            <a:pPr>
              <a:lnSpc>
                <a:spcPct val="110000"/>
              </a:lnSpc>
            </a:pPr>
            <a:r>
              <a:rPr lang="en-US" sz="800" dirty="0">
                <a:solidFill>
                  <a:srgbClr val="7F7F7F"/>
                </a:solidFill>
                <a:latin typeface="Arial"/>
                <a:cs typeface="Arial"/>
              </a:rPr>
              <a:t>Marco </a:t>
            </a:r>
            <a:r>
              <a:rPr lang="en-US" sz="800" dirty="0" err="1">
                <a:solidFill>
                  <a:srgbClr val="7F7F7F"/>
                </a:solidFill>
                <a:latin typeface="Arial"/>
                <a:cs typeface="Arial"/>
              </a:rPr>
              <a:t>Iansiti</a:t>
            </a:r>
            <a:r>
              <a:rPr lang="en-US" sz="800" dirty="0">
                <a:solidFill>
                  <a:srgbClr val="7F7F7F"/>
                </a:solidFill>
                <a:latin typeface="Arial"/>
                <a:cs typeface="Arial"/>
              </a:rPr>
              <a:t> and Alain </a:t>
            </a:r>
            <a:r>
              <a:rPr lang="en-US" sz="800" dirty="0" err="1">
                <a:solidFill>
                  <a:srgbClr val="7F7F7F"/>
                </a:solidFill>
                <a:latin typeface="Arial"/>
                <a:cs typeface="Arial"/>
              </a:rPr>
              <a:t>Serels</a:t>
            </a:r>
            <a:r>
              <a:rPr lang="en-US" sz="800" dirty="0">
                <a:solidFill>
                  <a:srgbClr val="7F7F7F"/>
                </a:solidFill>
                <a:latin typeface="Arial"/>
                <a:cs typeface="Arial"/>
              </a:rPr>
              <a:t>, </a:t>
            </a:r>
            <a:r>
              <a:rPr lang="en-US" sz="800" i="1" dirty="0">
                <a:solidFill>
                  <a:srgbClr val="7F7F7F"/>
                </a:solidFill>
                <a:latin typeface="Arial"/>
                <a:cs typeface="Arial"/>
              </a:rPr>
              <a:t>Core Reading: Operations Strategy</a:t>
            </a:r>
            <a:r>
              <a:rPr lang="en-US" sz="800" dirty="0">
                <a:solidFill>
                  <a:srgbClr val="7F7F7F"/>
                </a:solidFill>
                <a:latin typeface="Arial"/>
                <a:cs typeface="Arial"/>
              </a:rPr>
              <a:t>, HBP No. 8000 (Boston: Harvard Business School Publishing, 2013, 2024). </a:t>
            </a:r>
            <a:r>
              <a:rPr lang="en-US" sz="800" dirty="0">
                <a:solidFill>
                  <a:schemeClr val="bg1">
                    <a:lumMod val="50000"/>
                  </a:schemeClr>
                </a:solidFill>
                <a:latin typeface="Arial"/>
                <a:ea typeface="MS Mincho"/>
                <a:cs typeface="Arial"/>
              </a:rPr>
              <a:t>© </a:t>
            </a:r>
            <a:r>
              <a:rPr lang="en-US" sz="800" dirty="0">
                <a:solidFill>
                  <a:srgbClr val="7F7F7F"/>
                </a:solidFill>
                <a:latin typeface="Arial"/>
                <a:cs typeface="Arial"/>
              </a:rPr>
              <a:t>Copying or posting is an infringement of copyright. </a:t>
            </a:r>
          </a:p>
        </p:txBody>
      </p:sp>
    </p:spTree>
    <p:extLst>
      <p:ext uri="{BB962C8B-B14F-4D97-AF65-F5344CB8AC3E}">
        <p14:creationId xmlns:p14="http://schemas.microsoft.com/office/powerpoint/2010/main" val="9159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30E4CC5-A701-9F44-1BBC-2BD788FE8A65}"/>
              </a:ext>
            </a:extLst>
          </p:cNvPr>
          <p:cNvGrpSpPr/>
          <p:nvPr/>
        </p:nvGrpSpPr>
        <p:grpSpPr>
          <a:xfrm>
            <a:off x="-1186862" y="192118"/>
            <a:ext cx="10097591" cy="642455"/>
            <a:chOff x="-1186862" y="192118"/>
            <a:chExt cx="10097591" cy="642455"/>
          </a:xfrm>
        </p:grpSpPr>
        <p:pic>
          <p:nvPicPr>
            <p:cNvPr id="15" name="Picture 14" descr="orange_bar.png">
              <a:extLst>
                <a:ext uri="{FF2B5EF4-FFF2-40B4-BE49-F238E27FC236}">
                  <a16:creationId xmlns:a16="http://schemas.microsoft.com/office/drawing/2014/main" id="{2D8D9B6B-7140-E147-C67D-CE206A73BA2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4763" r="-2"/>
            <a:stretch/>
          </p:blipFill>
          <p:spPr>
            <a:xfrm>
              <a:off x="-1186862" y="285120"/>
              <a:ext cx="5979790" cy="432000"/>
            </a:xfrm>
            <a:prstGeom prst="rect">
              <a:avLst/>
            </a:prstGeom>
            <a:effectLst>
              <a:outerShdw blurRad="76200" dist="38100" dir="2700000" algn="tl" rotWithShape="0">
                <a:srgbClr val="000000">
                  <a:alpha val="2000"/>
                </a:srgbClr>
              </a:outerShdw>
            </a:effectLst>
          </p:spPr>
        </p:pic>
        <p:sp>
          <p:nvSpPr>
            <p:cNvPr id="16" name="TextBox 15">
              <a:extLst>
                <a:ext uri="{FF2B5EF4-FFF2-40B4-BE49-F238E27FC236}">
                  <a16:creationId xmlns:a16="http://schemas.microsoft.com/office/drawing/2014/main" id="{124B2FCB-17C6-8BD1-4671-5AFA80090946}"/>
                </a:ext>
              </a:extLst>
            </p:cNvPr>
            <p:cNvSpPr txBox="1"/>
            <p:nvPr/>
          </p:nvSpPr>
          <p:spPr>
            <a:xfrm>
              <a:off x="233271" y="207360"/>
              <a:ext cx="5495321" cy="553998"/>
            </a:xfrm>
            <a:prstGeom prst="rect">
              <a:avLst/>
            </a:prstGeom>
            <a:noFill/>
          </p:spPr>
          <p:txBody>
            <a:bodyPr wrap="square" rtlCol="0">
              <a:spAutoFit/>
            </a:bodyPr>
            <a:lstStyle/>
            <a:p>
              <a:r>
                <a:rPr lang="en-US" sz="3000" spc="100" dirty="0">
                  <a:solidFill>
                    <a:schemeClr val="bg1"/>
                  </a:solidFill>
                  <a:latin typeface="Gotham Black"/>
                  <a:cs typeface="Gotham Black"/>
                </a:rPr>
                <a:t>CORE CURRICULUM</a:t>
              </a:r>
            </a:p>
          </p:txBody>
        </p:sp>
        <p:pic>
          <p:nvPicPr>
            <p:cNvPr id="17" name="Picture 16">
              <a:extLst>
                <a:ext uri="{FF2B5EF4-FFF2-40B4-BE49-F238E27FC236}">
                  <a16:creationId xmlns:a16="http://schemas.microsoft.com/office/drawing/2014/main" id="{708037B0-867D-7BDE-F70A-FDF61CC8A34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586133" y="192118"/>
              <a:ext cx="1324596" cy="642455"/>
            </a:xfrm>
            <a:prstGeom prst="rect">
              <a:avLst/>
            </a:prstGeom>
          </p:spPr>
        </p:pic>
      </p:grpSp>
      <p:sp>
        <p:nvSpPr>
          <p:cNvPr id="7" name="Title 5"/>
          <p:cNvSpPr txBox="1">
            <a:spLocks noGrp="1"/>
          </p:cNvSpPr>
          <p:nvPr>
            <p:ph type="title" idx="4294967295"/>
          </p:nvPr>
        </p:nvSpPr>
        <p:spPr>
          <a:xfrm>
            <a:off x="317500" y="823767"/>
            <a:ext cx="6762309" cy="58665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rial"/>
                <a:ea typeface="Arial Unicode MS" panose="020B0604020202020204" pitchFamily="34" charset="-128"/>
                <a:cs typeface="Arial"/>
              </a:rPr>
              <a:t>Directed and Emergent Strategies</a:t>
            </a:r>
          </a:p>
        </p:txBody>
      </p:sp>
      <p:pic>
        <p:nvPicPr>
          <p:cNvPr id="14" name="Picture 13" descr="A diagram showing the relationship between Directed Strategy, Emergent Strategy, and Realized Strategy. A triangle represents the organization. A large arrow from the top of the triangle, labeled “Directed Strategy.” A single, smaller arrow labeled “Deliberate Strategy,” then points to a large arrow labeled “Realized Strategy.” From the lower portions of the triangle, multiple small arrows, all labeled “Emergent Strategy,” also point to “Realized Strategy.”">
            <a:extLst>
              <a:ext uri="{FF2B5EF4-FFF2-40B4-BE49-F238E27FC236}">
                <a16:creationId xmlns:a16="http://schemas.microsoft.com/office/drawing/2014/main" id="{5431285B-99D6-922B-0887-DA2DDDFC92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267" y="1963096"/>
            <a:ext cx="4984238" cy="2931807"/>
          </a:xfrm>
          <a:prstGeom prst="rect">
            <a:avLst/>
          </a:prstGeom>
        </p:spPr>
      </p:pic>
      <p:sp>
        <p:nvSpPr>
          <p:cNvPr id="11" name="TextBox 10">
            <a:extLst>
              <a:ext uri="{FF2B5EF4-FFF2-40B4-BE49-F238E27FC236}">
                <a16:creationId xmlns:a16="http://schemas.microsoft.com/office/drawing/2014/main" id="{08E85AC2-1C7E-2A4C-46CF-547586F0468A}"/>
              </a:ext>
            </a:extLst>
          </p:cNvPr>
          <p:cNvSpPr txBox="1"/>
          <p:nvPr/>
        </p:nvSpPr>
        <p:spPr>
          <a:xfrm>
            <a:off x="469900" y="5860652"/>
            <a:ext cx="8293853" cy="861780"/>
          </a:xfrm>
          <a:prstGeom prst="rect">
            <a:avLst/>
          </a:prstGeom>
          <a:noFill/>
        </p:spPr>
        <p:txBody>
          <a:bodyPr wrap="square" lIns="0" tIns="0" rIns="0" bIns="0" rtlCol="0" anchor="b" anchorCtr="0">
            <a:noAutofit/>
          </a:bodyPr>
          <a:lstStyle/>
          <a:p>
            <a:pPr>
              <a:lnSpc>
                <a:spcPts val="1100"/>
              </a:lnSpc>
            </a:pPr>
            <a:r>
              <a:rPr lang="en-US" sz="800" dirty="0">
                <a:solidFill>
                  <a:schemeClr val="bg1">
                    <a:lumMod val="50000"/>
                  </a:schemeClr>
                </a:solidFill>
                <a:latin typeface="Arial"/>
                <a:ea typeface="MS Mincho"/>
                <a:cs typeface="Arial"/>
              </a:rPr>
              <a:t>Source: Adapted with permission from Henry Mintzberg, “Patterns in Strategy Formation,” </a:t>
            </a:r>
            <a:r>
              <a:rPr lang="en-US" sz="800" i="1" dirty="0">
                <a:solidFill>
                  <a:schemeClr val="bg1">
                    <a:lumMod val="50000"/>
                  </a:schemeClr>
                </a:solidFill>
                <a:latin typeface="Arial"/>
                <a:ea typeface="MS Mincho"/>
                <a:cs typeface="Arial"/>
              </a:rPr>
              <a:t>Management Science</a:t>
            </a:r>
            <a:r>
              <a:rPr lang="en-US" sz="800" dirty="0">
                <a:solidFill>
                  <a:schemeClr val="bg1">
                    <a:lumMod val="50000"/>
                  </a:schemeClr>
                </a:solidFill>
                <a:latin typeface="Arial"/>
                <a:ea typeface="MS Mincho"/>
                <a:cs typeface="Arial"/>
              </a:rPr>
              <a:t> 24, no. 9 (1978): 945. Copyright © 1978, the Institute for Operations Research and the Management Sciences, 7240 Parkway Drive, Suite 300, Hanover, Maryland 21076. </a:t>
            </a:r>
          </a:p>
          <a:p>
            <a:pPr>
              <a:lnSpc>
                <a:spcPct val="110000"/>
              </a:lnSpc>
            </a:pPr>
            <a:endParaRPr lang="en-US" sz="800" dirty="0">
              <a:solidFill>
                <a:srgbClr val="7F7F7F"/>
              </a:solidFill>
              <a:latin typeface="Arial"/>
              <a:cs typeface="Arial"/>
            </a:endParaRPr>
          </a:p>
          <a:p>
            <a:pPr>
              <a:lnSpc>
                <a:spcPct val="110000"/>
              </a:lnSpc>
            </a:pPr>
            <a:r>
              <a:rPr lang="en-US" sz="800" dirty="0">
                <a:solidFill>
                  <a:srgbClr val="7F7F7F"/>
                </a:solidFill>
                <a:latin typeface="Arial"/>
                <a:cs typeface="Arial"/>
              </a:rPr>
              <a:t>Marco </a:t>
            </a:r>
            <a:r>
              <a:rPr lang="en-US" sz="800" dirty="0" err="1">
                <a:solidFill>
                  <a:srgbClr val="7F7F7F"/>
                </a:solidFill>
                <a:latin typeface="Arial"/>
                <a:cs typeface="Arial"/>
              </a:rPr>
              <a:t>Iansiti</a:t>
            </a:r>
            <a:r>
              <a:rPr lang="en-US" sz="800" dirty="0">
                <a:solidFill>
                  <a:srgbClr val="7F7F7F"/>
                </a:solidFill>
                <a:latin typeface="Arial"/>
                <a:cs typeface="Arial"/>
              </a:rPr>
              <a:t> and Alain </a:t>
            </a:r>
            <a:r>
              <a:rPr lang="en-US" sz="800" dirty="0" err="1">
                <a:solidFill>
                  <a:srgbClr val="7F7F7F"/>
                </a:solidFill>
                <a:latin typeface="Arial"/>
                <a:cs typeface="Arial"/>
              </a:rPr>
              <a:t>Serels</a:t>
            </a:r>
            <a:r>
              <a:rPr lang="en-US" sz="800" dirty="0">
                <a:solidFill>
                  <a:srgbClr val="7F7F7F"/>
                </a:solidFill>
                <a:latin typeface="Arial"/>
                <a:cs typeface="Arial"/>
              </a:rPr>
              <a:t>, </a:t>
            </a:r>
            <a:r>
              <a:rPr lang="en-US" sz="800" i="1" dirty="0">
                <a:solidFill>
                  <a:srgbClr val="7F7F7F"/>
                </a:solidFill>
                <a:latin typeface="Arial"/>
                <a:cs typeface="Arial"/>
              </a:rPr>
              <a:t>Core Reading: Operations Strategy</a:t>
            </a:r>
            <a:r>
              <a:rPr lang="en-US" sz="800" dirty="0">
                <a:solidFill>
                  <a:srgbClr val="7F7F7F"/>
                </a:solidFill>
                <a:latin typeface="Arial"/>
                <a:cs typeface="Arial"/>
              </a:rPr>
              <a:t>, HBP No. 8000 (Boston: Harvard Business School Publishing, 2013, 2024). </a:t>
            </a:r>
            <a:r>
              <a:rPr lang="en-US" sz="800" dirty="0">
                <a:solidFill>
                  <a:schemeClr val="bg1">
                    <a:lumMod val="50000"/>
                  </a:schemeClr>
                </a:solidFill>
                <a:latin typeface="Arial"/>
                <a:ea typeface="MS Mincho"/>
                <a:cs typeface="Arial"/>
              </a:rPr>
              <a:t>© </a:t>
            </a:r>
            <a:r>
              <a:rPr lang="en-US" sz="800" dirty="0">
                <a:solidFill>
                  <a:srgbClr val="7F7F7F"/>
                </a:solidFill>
                <a:latin typeface="Arial"/>
                <a:cs typeface="Arial"/>
              </a:rPr>
              <a:t>Copying or posting is an infringement of copyright. </a:t>
            </a:r>
          </a:p>
        </p:txBody>
      </p:sp>
    </p:spTree>
    <p:extLst>
      <p:ext uri="{BB962C8B-B14F-4D97-AF65-F5344CB8AC3E}">
        <p14:creationId xmlns:p14="http://schemas.microsoft.com/office/powerpoint/2010/main" val="3626621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30E4CC5-A701-9F44-1BBC-2BD788FE8A65}"/>
              </a:ext>
            </a:extLst>
          </p:cNvPr>
          <p:cNvGrpSpPr/>
          <p:nvPr/>
        </p:nvGrpSpPr>
        <p:grpSpPr>
          <a:xfrm>
            <a:off x="-1186862" y="192118"/>
            <a:ext cx="10097591" cy="642455"/>
            <a:chOff x="-1186862" y="192118"/>
            <a:chExt cx="10097591" cy="642455"/>
          </a:xfrm>
        </p:grpSpPr>
        <p:pic>
          <p:nvPicPr>
            <p:cNvPr id="15" name="Picture 14" descr="orange_bar.png">
              <a:extLst>
                <a:ext uri="{FF2B5EF4-FFF2-40B4-BE49-F238E27FC236}">
                  <a16:creationId xmlns:a16="http://schemas.microsoft.com/office/drawing/2014/main" id="{2D8D9B6B-7140-E147-C67D-CE206A73BA2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4763" r="-2"/>
            <a:stretch/>
          </p:blipFill>
          <p:spPr>
            <a:xfrm>
              <a:off x="-1186862" y="285120"/>
              <a:ext cx="5979790" cy="432000"/>
            </a:xfrm>
            <a:prstGeom prst="rect">
              <a:avLst/>
            </a:prstGeom>
            <a:effectLst>
              <a:outerShdw blurRad="76200" dist="38100" dir="2700000" algn="tl" rotWithShape="0">
                <a:srgbClr val="000000">
                  <a:alpha val="2000"/>
                </a:srgbClr>
              </a:outerShdw>
            </a:effectLst>
          </p:spPr>
        </p:pic>
        <p:sp>
          <p:nvSpPr>
            <p:cNvPr id="16" name="TextBox 15">
              <a:extLst>
                <a:ext uri="{FF2B5EF4-FFF2-40B4-BE49-F238E27FC236}">
                  <a16:creationId xmlns:a16="http://schemas.microsoft.com/office/drawing/2014/main" id="{124B2FCB-17C6-8BD1-4671-5AFA80090946}"/>
                </a:ext>
              </a:extLst>
            </p:cNvPr>
            <p:cNvSpPr txBox="1"/>
            <p:nvPr/>
          </p:nvSpPr>
          <p:spPr>
            <a:xfrm>
              <a:off x="233271" y="207360"/>
              <a:ext cx="5495321" cy="553998"/>
            </a:xfrm>
            <a:prstGeom prst="rect">
              <a:avLst/>
            </a:prstGeom>
            <a:noFill/>
          </p:spPr>
          <p:txBody>
            <a:bodyPr wrap="square" rtlCol="0">
              <a:spAutoFit/>
            </a:bodyPr>
            <a:lstStyle/>
            <a:p>
              <a:r>
                <a:rPr lang="en-US" sz="3000" spc="100" dirty="0">
                  <a:solidFill>
                    <a:schemeClr val="bg1"/>
                  </a:solidFill>
                  <a:latin typeface="Gotham Black"/>
                  <a:cs typeface="Gotham Black"/>
                </a:rPr>
                <a:t>CORE CURRICULUM</a:t>
              </a:r>
            </a:p>
          </p:txBody>
        </p:sp>
        <p:pic>
          <p:nvPicPr>
            <p:cNvPr id="17" name="Picture 16">
              <a:extLst>
                <a:ext uri="{FF2B5EF4-FFF2-40B4-BE49-F238E27FC236}">
                  <a16:creationId xmlns:a16="http://schemas.microsoft.com/office/drawing/2014/main" id="{708037B0-867D-7BDE-F70A-FDF61CC8A34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586133" y="192118"/>
              <a:ext cx="1324596" cy="642455"/>
            </a:xfrm>
            <a:prstGeom prst="rect">
              <a:avLst/>
            </a:prstGeom>
          </p:spPr>
        </p:pic>
      </p:grpSp>
      <p:sp>
        <p:nvSpPr>
          <p:cNvPr id="7" name="Title 5"/>
          <p:cNvSpPr txBox="1">
            <a:spLocks noGrp="1"/>
          </p:cNvSpPr>
          <p:nvPr>
            <p:ph type="title" idx="4294967295"/>
          </p:nvPr>
        </p:nvSpPr>
        <p:spPr>
          <a:xfrm>
            <a:off x="317500" y="823767"/>
            <a:ext cx="5612519" cy="58665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rial"/>
                <a:ea typeface="Arial Unicode MS" panose="020B0604020202020204" pitchFamily="34" charset="-128"/>
                <a:cs typeface="Arial"/>
              </a:rPr>
              <a:t>Economies of Scale</a:t>
            </a:r>
          </a:p>
        </p:txBody>
      </p:sp>
      <p:pic>
        <p:nvPicPr>
          <p:cNvPr id="2" name="Picture 1" descr="A chart showing cost curves for Average Unit Cost (y axis) and Volume (x axis). An orange cost curve is labeled “Long Run Average Cost Curve,” This curve falls as average unit cost decreases and volume increases. Two economies of scale curves, labeled Scale A and Scale B,  are also represented. For Scales A and B, each curve falls until it meets the Long-Run Average Cost Curve, then rises as volume increases.  ">
            <a:extLst>
              <a:ext uri="{FF2B5EF4-FFF2-40B4-BE49-F238E27FC236}">
                <a16:creationId xmlns:a16="http://schemas.microsoft.com/office/drawing/2014/main" id="{B7A31B94-07EF-25B2-1FF5-5ADD7CD5E76E}"/>
              </a:ext>
            </a:extLst>
          </p:cNvPr>
          <p:cNvPicPr>
            <a:picLocks noChangeAspect="1"/>
          </p:cNvPicPr>
          <p:nvPr/>
        </p:nvPicPr>
        <p:blipFill>
          <a:blip r:embed="rId4" cstate="print">
            <a:extLst>
              <a:ext uri="{28A0092B-C50C-407E-A947-70E740481C1C}">
                <a14:useLocalDpi xmlns:a14="http://schemas.microsoft.com/office/drawing/2010/main" val="0"/>
              </a:ext>
            </a:extLst>
          </a:blip>
          <a:srcRect t="3760" b="3760"/>
          <a:stretch>
            <a:fillRect/>
          </a:stretch>
        </p:blipFill>
        <p:spPr bwMode="auto">
          <a:xfrm>
            <a:off x="1183345" y="1684060"/>
            <a:ext cx="6402788" cy="3483286"/>
          </a:xfrm>
          <a:prstGeom prst="rect">
            <a:avLst/>
          </a:prstGeom>
          <a:noFill/>
          <a:ln>
            <a:noFill/>
          </a:ln>
          <a:extLst>
            <a:ext uri="{53640926-AAD7-44D8-BBD7-CCE9431645EC}">
              <a14:shadowObscured xmlns:a14="http://schemas.microsoft.com/office/drawing/2010/main"/>
            </a:ext>
          </a:extLst>
        </p:spPr>
      </p:pic>
      <p:sp>
        <p:nvSpPr>
          <p:cNvPr id="11" name="TextBox 10">
            <a:extLst>
              <a:ext uri="{FF2B5EF4-FFF2-40B4-BE49-F238E27FC236}">
                <a16:creationId xmlns:a16="http://schemas.microsoft.com/office/drawing/2014/main" id="{08E85AC2-1C7E-2A4C-46CF-547586F0468A}"/>
              </a:ext>
            </a:extLst>
          </p:cNvPr>
          <p:cNvSpPr txBox="1"/>
          <p:nvPr/>
        </p:nvSpPr>
        <p:spPr>
          <a:xfrm>
            <a:off x="469900" y="5860652"/>
            <a:ext cx="8330067" cy="861780"/>
          </a:xfrm>
          <a:prstGeom prst="rect">
            <a:avLst/>
          </a:prstGeom>
          <a:noFill/>
        </p:spPr>
        <p:txBody>
          <a:bodyPr wrap="square" lIns="0" tIns="0" rIns="0" bIns="0" rtlCol="0" anchor="b" anchorCtr="0">
            <a:noAutofit/>
          </a:bodyPr>
          <a:lstStyle/>
          <a:p>
            <a:pPr>
              <a:lnSpc>
                <a:spcPct val="110000"/>
              </a:lnSpc>
            </a:pPr>
            <a:endParaRPr lang="en-US" sz="800" dirty="0">
              <a:solidFill>
                <a:srgbClr val="7F7F7F"/>
              </a:solidFill>
              <a:latin typeface="Arial"/>
              <a:cs typeface="Arial"/>
            </a:endParaRPr>
          </a:p>
          <a:p>
            <a:pPr>
              <a:lnSpc>
                <a:spcPct val="110000"/>
              </a:lnSpc>
            </a:pPr>
            <a:r>
              <a:rPr lang="en-US" sz="800" dirty="0">
                <a:solidFill>
                  <a:srgbClr val="7F7F7F"/>
                </a:solidFill>
                <a:latin typeface="Arial"/>
                <a:cs typeface="Arial"/>
              </a:rPr>
              <a:t>Marco </a:t>
            </a:r>
            <a:r>
              <a:rPr lang="en-US" sz="800" dirty="0" err="1">
                <a:solidFill>
                  <a:srgbClr val="7F7F7F"/>
                </a:solidFill>
                <a:latin typeface="Arial"/>
                <a:cs typeface="Arial"/>
              </a:rPr>
              <a:t>Iansiti</a:t>
            </a:r>
            <a:r>
              <a:rPr lang="en-US" sz="800" dirty="0">
                <a:solidFill>
                  <a:srgbClr val="7F7F7F"/>
                </a:solidFill>
                <a:latin typeface="Arial"/>
                <a:cs typeface="Arial"/>
              </a:rPr>
              <a:t> and Alain </a:t>
            </a:r>
            <a:r>
              <a:rPr lang="en-US" sz="800" dirty="0" err="1">
                <a:solidFill>
                  <a:srgbClr val="7F7F7F"/>
                </a:solidFill>
                <a:latin typeface="Arial"/>
                <a:cs typeface="Arial"/>
              </a:rPr>
              <a:t>Serels</a:t>
            </a:r>
            <a:r>
              <a:rPr lang="en-US" sz="800" dirty="0">
                <a:solidFill>
                  <a:srgbClr val="7F7F7F"/>
                </a:solidFill>
                <a:latin typeface="Arial"/>
                <a:cs typeface="Arial"/>
              </a:rPr>
              <a:t>, </a:t>
            </a:r>
            <a:r>
              <a:rPr lang="en-US" sz="800" i="1" dirty="0">
                <a:solidFill>
                  <a:srgbClr val="7F7F7F"/>
                </a:solidFill>
                <a:latin typeface="Arial"/>
                <a:cs typeface="Arial"/>
              </a:rPr>
              <a:t>Core Reading: Operations Strategy</a:t>
            </a:r>
            <a:r>
              <a:rPr lang="en-US" sz="800" dirty="0">
                <a:solidFill>
                  <a:srgbClr val="7F7F7F"/>
                </a:solidFill>
                <a:latin typeface="Arial"/>
                <a:cs typeface="Arial"/>
              </a:rPr>
              <a:t>, HBP No. 8000 (Boston: Harvard Business School Publishing, 2013, 2024). </a:t>
            </a:r>
            <a:r>
              <a:rPr lang="en-US" sz="800" dirty="0">
                <a:solidFill>
                  <a:schemeClr val="bg1">
                    <a:lumMod val="50000"/>
                  </a:schemeClr>
                </a:solidFill>
                <a:latin typeface="Arial"/>
                <a:ea typeface="MS Mincho"/>
                <a:cs typeface="Arial"/>
              </a:rPr>
              <a:t>© </a:t>
            </a:r>
            <a:r>
              <a:rPr lang="en-US" sz="800" dirty="0">
                <a:solidFill>
                  <a:srgbClr val="7F7F7F"/>
                </a:solidFill>
                <a:latin typeface="Arial"/>
                <a:cs typeface="Arial"/>
              </a:rPr>
              <a:t>Copying or posting is an infringement of copyright. </a:t>
            </a:r>
          </a:p>
        </p:txBody>
      </p:sp>
    </p:spTree>
    <p:extLst>
      <p:ext uri="{BB962C8B-B14F-4D97-AF65-F5344CB8AC3E}">
        <p14:creationId xmlns:p14="http://schemas.microsoft.com/office/powerpoint/2010/main" val="754268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A9AF5E9-4D4C-592D-D6D1-FC1C63F576D5}"/>
              </a:ext>
            </a:extLst>
          </p:cNvPr>
          <p:cNvGrpSpPr/>
          <p:nvPr/>
        </p:nvGrpSpPr>
        <p:grpSpPr>
          <a:xfrm>
            <a:off x="-1186862" y="192118"/>
            <a:ext cx="10097591" cy="642455"/>
            <a:chOff x="-1186862" y="192118"/>
            <a:chExt cx="10097591" cy="642455"/>
          </a:xfrm>
        </p:grpSpPr>
        <p:pic>
          <p:nvPicPr>
            <p:cNvPr id="15" name="Picture 14" descr="orange_bar.png">
              <a:extLst>
                <a:ext uri="{FF2B5EF4-FFF2-40B4-BE49-F238E27FC236}">
                  <a16:creationId xmlns:a16="http://schemas.microsoft.com/office/drawing/2014/main" id="{D510B00F-5286-DFB0-F187-7CCE1B0B0EB3}"/>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4763" r="-2"/>
            <a:stretch/>
          </p:blipFill>
          <p:spPr>
            <a:xfrm>
              <a:off x="-1186862" y="285120"/>
              <a:ext cx="5979790" cy="432000"/>
            </a:xfrm>
            <a:prstGeom prst="rect">
              <a:avLst/>
            </a:prstGeom>
            <a:effectLst>
              <a:outerShdw blurRad="76200" dist="38100" dir="2700000" algn="tl" rotWithShape="0">
                <a:srgbClr val="000000">
                  <a:alpha val="2000"/>
                </a:srgbClr>
              </a:outerShdw>
            </a:effectLst>
          </p:spPr>
        </p:pic>
        <p:sp>
          <p:nvSpPr>
            <p:cNvPr id="16" name="TextBox 15">
              <a:extLst>
                <a:ext uri="{FF2B5EF4-FFF2-40B4-BE49-F238E27FC236}">
                  <a16:creationId xmlns:a16="http://schemas.microsoft.com/office/drawing/2014/main" id="{3F668198-A730-0976-2441-DBE87F499ED4}"/>
                </a:ext>
              </a:extLst>
            </p:cNvPr>
            <p:cNvSpPr txBox="1"/>
            <p:nvPr/>
          </p:nvSpPr>
          <p:spPr>
            <a:xfrm>
              <a:off x="233271" y="207360"/>
              <a:ext cx="5495321" cy="553998"/>
            </a:xfrm>
            <a:prstGeom prst="rect">
              <a:avLst/>
            </a:prstGeom>
            <a:noFill/>
          </p:spPr>
          <p:txBody>
            <a:bodyPr wrap="square" rtlCol="0">
              <a:spAutoFit/>
            </a:bodyPr>
            <a:lstStyle/>
            <a:p>
              <a:r>
                <a:rPr lang="en-US" sz="3000" spc="100" dirty="0">
                  <a:solidFill>
                    <a:schemeClr val="bg1"/>
                  </a:solidFill>
                  <a:latin typeface="Gotham Black"/>
                  <a:cs typeface="Gotham Black"/>
                </a:rPr>
                <a:t>CORE CURRICULUM</a:t>
              </a:r>
            </a:p>
          </p:txBody>
        </p:sp>
        <p:pic>
          <p:nvPicPr>
            <p:cNvPr id="17" name="Picture 16">
              <a:extLst>
                <a:ext uri="{FF2B5EF4-FFF2-40B4-BE49-F238E27FC236}">
                  <a16:creationId xmlns:a16="http://schemas.microsoft.com/office/drawing/2014/main" id="{85052036-F87D-4DB5-34C2-D2534AF2D62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586133" y="192118"/>
              <a:ext cx="1324596" cy="642455"/>
            </a:xfrm>
            <a:prstGeom prst="rect">
              <a:avLst/>
            </a:prstGeom>
          </p:spPr>
        </p:pic>
      </p:grpSp>
      <p:sp>
        <p:nvSpPr>
          <p:cNvPr id="7" name="Title 5"/>
          <p:cNvSpPr txBox="1">
            <a:spLocks noGrp="1"/>
          </p:cNvSpPr>
          <p:nvPr>
            <p:ph type="title" idx="4294967295"/>
          </p:nvPr>
        </p:nvSpPr>
        <p:spPr>
          <a:xfrm>
            <a:off x="317500" y="823767"/>
            <a:ext cx="8201787" cy="58665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rial"/>
                <a:ea typeface="Arial Unicode MS" panose="020B0604020202020204" pitchFamily="34" charset="-128"/>
                <a:cs typeface="Arial"/>
              </a:rPr>
              <a:t>Learning Curve</a:t>
            </a:r>
          </a:p>
        </p:txBody>
      </p:sp>
      <p:pic>
        <p:nvPicPr>
          <p:cNvPr id="4" name="Picture 3" descr="A chart showing examples of three learning curves along the dimensions Labor Required &amp; Average Unit Cost (y axis) and Cumulative Volume (x axis). From the same point (high labor and unit cost and low volume), each curve falls at a different rate. ">
            <a:extLst>
              <a:ext uri="{FF2B5EF4-FFF2-40B4-BE49-F238E27FC236}">
                <a16:creationId xmlns:a16="http://schemas.microsoft.com/office/drawing/2014/main" id="{1345BF02-27CB-9969-187D-95B3B8788C71}"/>
              </a:ext>
            </a:extLst>
          </p:cNvPr>
          <p:cNvPicPr>
            <a:picLocks noChangeAspect="1"/>
          </p:cNvPicPr>
          <p:nvPr/>
        </p:nvPicPr>
        <p:blipFill>
          <a:blip r:embed="rId4" cstate="print">
            <a:extLst>
              <a:ext uri="{28A0092B-C50C-407E-A947-70E740481C1C}">
                <a14:useLocalDpi xmlns:a14="http://schemas.microsoft.com/office/drawing/2010/main" val="0"/>
              </a:ext>
            </a:extLst>
          </a:blip>
          <a:srcRect l="2597" t="5498" r="3516" b="5498"/>
          <a:stretch>
            <a:fillRect/>
          </a:stretch>
        </p:blipFill>
        <p:spPr bwMode="auto">
          <a:xfrm>
            <a:off x="1448445" y="1828800"/>
            <a:ext cx="6043879" cy="3096285"/>
          </a:xfrm>
          <a:prstGeom prst="rect">
            <a:avLst/>
          </a:prstGeom>
          <a:noFill/>
          <a:ln>
            <a:noFill/>
          </a:ln>
        </p:spPr>
      </p:pic>
      <p:sp>
        <p:nvSpPr>
          <p:cNvPr id="9" name="TextBox 8"/>
          <p:cNvSpPr txBox="1"/>
          <p:nvPr/>
        </p:nvSpPr>
        <p:spPr>
          <a:xfrm>
            <a:off x="317501" y="5708252"/>
            <a:ext cx="8291286" cy="861780"/>
          </a:xfrm>
          <a:prstGeom prst="rect">
            <a:avLst/>
          </a:prstGeom>
          <a:noFill/>
        </p:spPr>
        <p:txBody>
          <a:bodyPr wrap="square" lIns="0" tIns="0" rIns="0" bIns="0" rtlCol="0" anchor="b" anchorCtr="0">
            <a:noAutofit/>
          </a:bodyPr>
          <a:lstStyle/>
          <a:p>
            <a:pPr>
              <a:lnSpc>
                <a:spcPct val="110000"/>
              </a:lnSpc>
            </a:pPr>
            <a:endParaRPr lang="en-US" sz="800" dirty="0">
              <a:solidFill>
                <a:srgbClr val="7F7F7F"/>
              </a:solidFill>
              <a:latin typeface="Arial"/>
              <a:cs typeface="Arial"/>
            </a:endParaRPr>
          </a:p>
          <a:p>
            <a:pPr>
              <a:lnSpc>
                <a:spcPct val="110000"/>
              </a:lnSpc>
            </a:pPr>
            <a:r>
              <a:rPr lang="en-US" sz="800" dirty="0">
                <a:solidFill>
                  <a:srgbClr val="7F7F7F"/>
                </a:solidFill>
                <a:latin typeface="Arial"/>
                <a:cs typeface="Arial"/>
              </a:rPr>
              <a:t>Source: Based on learning curve concept developed by T. P. Wright, "Factors Affecting the Cost of Airplanes," </a:t>
            </a:r>
            <a:r>
              <a:rPr lang="en-US" sz="800" i="1" dirty="0">
                <a:solidFill>
                  <a:srgbClr val="7F7F7F"/>
                </a:solidFill>
                <a:latin typeface="Arial"/>
                <a:cs typeface="Arial"/>
              </a:rPr>
              <a:t>Journal of Aeronautical Sciences</a:t>
            </a:r>
            <a:r>
              <a:rPr lang="en-US" sz="800" dirty="0">
                <a:solidFill>
                  <a:srgbClr val="7F7F7F"/>
                </a:solidFill>
                <a:latin typeface="Arial"/>
                <a:cs typeface="Arial"/>
              </a:rPr>
              <a:t> 3(4) (1936): 122–128 and extended in Bruce Henderson, “The Experience Curve,” </a:t>
            </a:r>
            <a:r>
              <a:rPr lang="en-US" sz="800" i="1" dirty="0">
                <a:solidFill>
                  <a:srgbClr val="7F7F7F"/>
                </a:solidFill>
                <a:latin typeface="Arial"/>
                <a:cs typeface="Arial"/>
              </a:rPr>
              <a:t>BCG Perspectives</a:t>
            </a:r>
            <a:r>
              <a:rPr lang="en-US" sz="800" dirty="0">
                <a:solidFill>
                  <a:srgbClr val="7F7F7F"/>
                </a:solidFill>
                <a:latin typeface="Arial"/>
                <a:cs typeface="Arial"/>
              </a:rPr>
              <a:t>, Boston Consulting Group, 1968</a:t>
            </a:r>
          </a:p>
          <a:p>
            <a:pPr>
              <a:lnSpc>
                <a:spcPct val="110000"/>
              </a:lnSpc>
            </a:pPr>
            <a:endParaRPr lang="en-US" sz="800" dirty="0">
              <a:solidFill>
                <a:srgbClr val="7F7F7F"/>
              </a:solidFill>
              <a:latin typeface="Arial"/>
              <a:cs typeface="Arial"/>
            </a:endParaRPr>
          </a:p>
          <a:p>
            <a:pPr>
              <a:lnSpc>
                <a:spcPct val="110000"/>
              </a:lnSpc>
            </a:pPr>
            <a:r>
              <a:rPr lang="en-US" sz="800" dirty="0">
                <a:solidFill>
                  <a:srgbClr val="7F7F7F"/>
                </a:solidFill>
                <a:latin typeface="Arial"/>
                <a:cs typeface="Arial"/>
              </a:rPr>
              <a:t>Marco </a:t>
            </a:r>
            <a:r>
              <a:rPr lang="en-US" sz="800" dirty="0" err="1">
                <a:solidFill>
                  <a:srgbClr val="7F7F7F"/>
                </a:solidFill>
                <a:latin typeface="Arial"/>
                <a:cs typeface="Arial"/>
              </a:rPr>
              <a:t>Iansiti</a:t>
            </a:r>
            <a:r>
              <a:rPr lang="en-US" sz="800" dirty="0">
                <a:solidFill>
                  <a:srgbClr val="7F7F7F"/>
                </a:solidFill>
                <a:latin typeface="Arial"/>
                <a:cs typeface="Arial"/>
              </a:rPr>
              <a:t> and Alain </a:t>
            </a:r>
            <a:r>
              <a:rPr lang="en-US" sz="800" dirty="0" err="1">
                <a:solidFill>
                  <a:srgbClr val="7F7F7F"/>
                </a:solidFill>
                <a:latin typeface="Arial"/>
                <a:cs typeface="Arial"/>
              </a:rPr>
              <a:t>Serels</a:t>
            </a:r>
            <a:r>
              <a:rPr lang="en-US" sz="800" dirty="0">
                <a:solidFill>
                  <a:srgbClr val="7F7F7F"/>
                </a:solidFill>
                <a:latin typeface="Arial"/>
                <a:cs typeface="Arial"/>
              </a:rPr>
              <a:t>, </a:t>
            </a:r>
            <a:r>
              <a:rPr lang="en-US" sz="800" i="1" dirty="0">
                <a:solidFill>
                  <a:srgbClr val="7F7F7F"/>
                </a:solidFill>
                <a:latin typeface="Arial"/>
                <a:cs typeface="Arial"/>
              </a:rPr>
              <a:t>Core Reading: Operations Strategy</a:t>
            </a:r>
            <a:r>
              <a:rPr lang="en-US" sz="800" dirty="0">
                <a:solidFill>
                  <a:srgbClr val="7F7F7F"/>
                </a:solidFill>
                <a:latin typeface="Arial"/>
                <a:cs typeface="Arial"/>
              </a:rPr>
              <a:t>, HBP No. 8000 (Boston: Harvard Business School Publishing, 2013, 2024). </a:t>
            </a:r>
            <a:r>
              <a:rPr lang="en-US" sz="800" dirty="0">
                <a:solidFill>
                  <a:schemeClr val="bg1">
                    <a:lumMod val="50000"/>
                  </a:schemeClr>
                </a:solidFill>
                <a:latin typeface="Arial"/>
                <a:ea typeface="MS Mincho"/>
                <a:cs typeface="Arial"/>
              </a:rPr>
              <a:t>© </a:t>
            </a:r>
            <a:r>
              <a:rPr lang="en-US" sz="800" dirty="0">
                <a:solidFill>
                  <a:srgbClr val="7F7F7F"/>
                </a:solidFill>
                <a:latin typeface="Arial"/>
                <a:cs typeface="Arial"/>
              </a:rPr>
              <a:t>Copying or posting is an infringement of copyright. </a:t>
            </a:r>
          </a:p>
        </p:txBody>
      </p:sp>
    </p:spTree>
    <p:extLst>
      <p:ext uri="{BB962C8B-B14F-4D97-AF65-F5344CB8AC3E}">
        <p14:creationId xmlns:p14="http://schemas.microsoft.com/office/powerpoint/2010/main" val="2026246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3C48B00-3FF0-87C9-4F6D-35B165EF97FD}"/>
              </a:ext>
            </a:extLst>
          </p:cNvPr>
          <p:cNvGrpSpPr/>
          <p:nvPr/>
        </p:nvGrpSpPr>
        <p:grpSpPr>
          <a:xfrm>
            <a:off x="-1186862" y="192118"/>
            <a:ext cx="10097591" cy="642455"/>
            <a:chOff x="-1186862" y="192118"/>
            <a:chExt cx="10097591" cy="642455"/>
          </a:xfrm>
        </p:grpSpPr>
        <p:pic>
          <p:nvPicPr>
            <p:cNvPr id="15" name="Picture 14" descr="orange_bar.png">
              <a:extLst>
                <a:ext uri="{FF2B5EF4-FFF2-40B4-BE49-F238E27FC236}">
                  <a16:creationId xmlns:a16="http://schemas.microsoft.com/office/drawing/2014/main" id="{231331B3-DDCA-DC0F-0F32-71878B75824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4763" r="-2"/>
            <a:stretch/>
          </p:blipFill>
          <p:spPr>
            <a:xfrm>
              <a:off x="-1186862" y="285120"/>
              <a:ext cx="5979790" cy="432000"/>
            </a:xfrm>
            <a:prstGeom prst="rect">
              <a:avLst/>
            </a:prstGeom>
            <a:effectLst>
              <a:outerShdw blurRad="76200" dist="38100" dir="2700000" algn="tl" rotWithShape="0">
                <a:srgbClr val="000000">
                  <a:alpha val="2000"/>
                </a:srgbClr>
              </a:outerShdw>
            </a:effectLst>
          </p:spPr>
        </p:pic>
        <p:sp>
          <p:nvSpPr>
            <p:cNvPr id="16" name="TextBox 15">
              <a:extLst>
                <a:ext uri="{FF2B5EF4-FFF2-40B4-BE49-F238E27FC236}">
                  <a16:creationId xmlns:a16="http://schemas.microsoft.com/office/drawing/2014/main" id="{8B7BD7B4-68EF-BEDC-54BE-201301DC4D99}"/>
                </a:ext>
              </a:extLst>
            </p:cNvPr>
            <p:cNvSpPr txBox="1"/>
            <p:nvPr/>
          </p:nvSpPr>
          <p:spPr>
            <a:xfrm>
              <a:off x="233271" y="207360"/>
              <a:ext cx="5495321" cy="553998"/>
            </a:xfrm>
            <a:prstGeom prst="rect">
              <a:avLst/>
            </a:prstGeom>
            <a:noFill/>
          </p:spPr>
          <p:txBody>
            <a:bodyPr wrap="square" rtlCol="0">
              <a:spAutoFit/>
            </a:bodyPr>
            <a:lstStyle/>
            <a:p>
              <a:r>
                <a:rPr lang="en-US" sz="3000" spc="100" dirty="0">
                  <a:solidFill>
                    <a:schemeClr val="bg1"/>
                  </a:solidFill>
                  <a:latin typeface="Gotham Black"/>
                  <a:cs typeface="Gotham Black"/>
                </a:rPr>
                <a:t>CORE CURRICULUM</a:t>
              </a:r>
            </a:p>
          </p:txBody>
        </p:sp>
        <p:pic>
          <p:nvPicPr>
            <p:cNvPr id="17" name="Picture 16">
              <a:extLst>
                <a:ext uri="{FF2B5EF4-FFF2-40B4-BE49-F238E27FC236}">
                  <a16:creationId xmlns:a16="http://schemas.microsoft.com/office/drawing/2014/main" id="{92F498C9-ED57-0233-1DF2-23605E63EED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586133" y="192118"/>
              <a:ext cx="1324596" cy="642455"/>
            </a:xfrm>
            <a:prstGeom prst="rect">
              <a:avLst/>
            </a:prstGeom>
          </p:spPr>
        </p:pic>
      </p:grpSp>
      <p:sp>
        <p:nvSpPr>
          <p:cNvPr id="7" name="Title 5"/>
          <p:cNvSpPr txBox="1">
            <a:spLocks noGrp="1"/>
          </p:cNvSpPr>
          <p:nvPr>
            <p:ph type="title" idx="4294967295"/>
          </p:nvPr>
        </p:nvSpPr>
        <p:spPr>
          <a:xfrm>
            <a:off x="317500" y="823767"/>
            <a:ext cx="8201787" cy="58665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rial"/>
                <a:ea typeface="+mj-ea"/>
                <a:cs typeface="Arial"/>
              </a:rPr>
              <a:t>Aldi’s Resource-Based Operations Strategy Matrix (2012) </a:t>
            </a:r>
            <a:endParaRPr kumimoji="0" lang="en-US" sz="3200" b="0" i="0" u="none" strike="noStrike" kern="1200" cap="none" spc="0" normalizeH="0" baseline="0" noProof="0" dirty="0">
              <a:ln>
                <a:noFill/>
              </a:ln>
              <a:solidFill>
                <a:schemeClr val="tx1"/>
              </a:solidFill>
              <a:effectLst/>
              <a:uLnTx/>
              <a:uFillTx/>
              <a:latin typeface="Arial"/>
              <a:ea typeface="Arial Unicode MS" panose="020B0604020202020204" pitchFamily="34" charset="-128"/>
              <a:cs typeface="Arial"/>
            </a:endParaRPr>
          </a:p>
        </p:txBody>
      </p:sp>
      <p:pic>
        <p:nvPicPr>
          <p:cNvPr id="5" name="Picture 4" descr="A table of informational text&#10;&#10;Description automatically generated with medium confidence">
            <a:extLst>
              <a:ext uri="{FF2B5EF4-FFF2-40B4-BE49-F238E27FC236}">
                <a16:creationId xmlns:a16="http://schemas.microsoft.com/office/drawing/2014/main" id="{66D0E451-5654-2127-ABC9-0F704EC821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8244" y="1466222"/>
            <a:ext cx="5484810" cy="4469492"/>
          </a:xfrm>
          <a:prstGeom prst="rect">
            <a:avLst/>
          </a:prstGeom>
        </p:spPr>
      </p:pic>
      <p:sp>
        <p:nvSpPr>
          <p:cNvPr id="9" name="TextBox 8"/>
          <p:cNvSpPr txBox="1"/>
          <p:nvPr/>
        </p:nvSpPr>
        <p:spPr>
          <a:xfrm>
            <a:off x="317501" y="5708252"/>
            <a:ext cx="8291286" cy="861780"/>
          </a:xfrm>
          <a:prstGeom prst="rect">
            <a:avLst/>
          </a:prstGeom>
          <a:noFill/>
        </p:spPr>
        <p:txBody>
          <a:bodyPr wrap="square" lIns="0" tIns="0" rIns="0" bIns="0" rtlCol="0" anchor="b" anchorCtr="0">
            <a:noAutofit/>
          </a:bodyPr>
          <a:lstStyle/>
          <a:p>
            <a:pPr>
              <a:lnSpc>
                <a:spcPts val="1100"/>
              </a:lnSpc>
            </a:pPr>
            <a:r>
              <a:rPr lang="en-US" sz="800" dirty="0">
                <a:solidFill>
                  <a:schemeClr val="bg1">
                    <a:lumMod val="50000"/>
                  </a:schemeClr>
                </a:solidFill>
                <a:latin typeface="Arial"/>
                <a:ea typeface="MS Mincho"/>
                <a:cs typeface="Arial"/>
              </a:rPr>
              <a:t>Source: Adapted from Marc </a:t>
            </a:r>
            <a:r>
              <a:rPr lang="en-US" sz="800" dirty="0" err="1">
                <a:solidFill>
                  <a:schemeClr val="bg1">
                    <a:lumMod val="50000"/>
                  </a:schemeClr>
                </a:solidFill>
                <a:latin typeface="Arial"/>
                <a:ea typeface="MS Mincho"/>
                <a:cs typeface="Arial"/>
              </a:rPr>
              <a:t>Sachon</a:t>
            </a:r>
            <a:r>
              <a:rPr lang="en-US" sz="800" dirty="0">
                <a:solidFill>
                  <a:schemeClr val="bg1">
                    <a:lumMod val="50000"/>
                  </a:schemeClr>
                </a:solidFill>
                <a:latin typeface="Arial"/>
                <a:ea typeface="MS Mincho"/>
                <a:cs typeface="Arial"/>
              </a:rPr>
              <a:t>, “Aldi: Disruptor Disrupted?” Case IES944 (Barcelona: IESE Publishing, 2023). Adapted by permission of Harvard Business Review from Jan-Benedict Steenkamp and </a:t>
            </a:r>
            <a:r>
              <a:rPr lang="en-US" sz="800" dirty="0" err="1">
                <a:solidFill>
                  <a:schemeClr val="bg1">
                    <a:lumMod val="50000"/>
                  </a:schemeClr>
                </a:solidFill>
                <a:latin typeface="Arial"/>
                <a:ea typeface="MS Mincho"/>
                <a:cs typeface="Arial"/>
              </a:rPr>
              <a:t>Nirmalya</a:t>
            </a:r>
            <a:r>
              <a:rPr lang="en-US" sz="800" dirty="0">
                <a:solidFill>
                  <a:schemeClr val="bg1">
                    <a:lumMod val="50000"/>
                  </a:schemeClr>
                </a:solidFill>
                <a:latin typeface="Arial"/>
                <a:ea typeface="MS Mincho"/>
                <a:cs typeface="Arial"/>
              </a:rPr>
              <a:t> Kumar, "Don't Be Undersold!," </a:t>
            </a:r>
            <a:r>
              <a:rPr lang="en-US" sz="800" i="1" dirty="0">
                <a:solidFill>
                  <a:schemeClr val="bg1">
                    <a:lumMod val="50000"/>
                  </a:schemeClr>
                </a:solidFill>
                <a:latin typeface="Arial"/>
                <a:ea typeface="MS Mincho"/>
                <a:cs typeface="Arial"/>
              </a:rPr>
              <a:t>Harvard Business Review </a:t>
            </a:r>
            <a:r>
              <a:rPr lang="en-US" sz="800" dirty="0">
                <a:solidFill>
                  <a:schemeClr val="bg1">
                    <a:lumMod val="50000"/>
                  </a:schemeClr>
                </a:solidFill>
                <a:latin typeface="Arial"/>
                <a:ea typeface="MS Mincho"/>
                <a:cs typeface="Arial"/>
              </a:rPr>
              <a:t>87, no. 12 (2009). © 2009 by the Harvard Business School Publishing; all rights reserved.</a:t>
            </a:r>
          </a:p>
          <a:p>
            <a:pPr>
              <a:lnSpc>
                <a:spcPct val="110000"/>
              </a:lnSpc>
            </a:pPr>
            <a:endParaRPr lang="en-US" sz="800" dirty="0">
              <a:solidFill>
                <a:srgbClr val="7F7F7F"/>
              </a:solidFill>
              <a:latin typeface="Arial"/>
              <a:cs typeface="Arial"/>
            </a:endParaRPr>
          </a:p>
          <a:p>
            <a:pPr>
              <a:lnSpc>
                <a:spcPct val="110000"/>
              </a:lnSpc>
            </a:pPr>
            <a:r>
              <a:rPr lang="en-US" sz="800" dirty="0">
                <a:solidFill>
                  <a:srgbClr val="7F7F7F"/>
                </a:solidFill>
                <a:latin typeface="Arial"/>
                <a:cs typeface="Arial"/>
              </a:rPr>
              <a:t>Marco </a:t>
            </a:r>
            <a:r>
              <a:rPr lang="en-US" sz="800" dirty="0" err="1">
                <a:solidFill>
                  <a:srgbClr val="7F7F7F"/>
                </a:solidFill>
                <a:latin typeface="Arial"/>
                <a:cs typeface="Arial"/>
              </a:rPr>
              <a:t>Iansiti</a:t>
            </a:r>
            <a:r>
              <a:rPr lang="en-US" sz="800" dirty="0">
                <a:solidFill>
                  <a:srgbClr val="7F7F7F"/>
                </a:solidFill>
                <a:latin typeface="Arial"/>
                <a:cs typeface="Arial"/>
              </a:rPr>
              <a:t> and Alain </a:t>
            </a:r>
            <a:r>
              <a:rPr lang="en-US" sz="800" dirty="0" err="1">
                <a:solidFill>
                  <a:srgbClr val="7F7F7F"/>
                </a:solidFill>
                <a:latin typeface="Arial"/>
                <a:cs typeface="Arial"/>
              </a:rPr>
              <a:t>Serels</a:t>
            </a:r>
            <a:r>
              <a:rPr lang="en-US" sz="800" dirty="0">
                <a:solidFill>
                  <a:srgbClr val="7F7F7F"/>
                </a:solidFill>
                <a:latin typeface="Arial"/>
                <a:cs typeface="Arial"/>
              </a:rPr>
              <a:t>, </a:t>
            </a:r>
            <a:r>
              <a:rPr lang="en-US" sz="800" i="1" dirty="0">
                <a:solidFill>
                  <a:srgbClr val="7F7F7F"/>
                </a:solidFill>
                <a:latin typeface="Arial"/>
                <a:cs typeface="Arial"/>
              </a:rPr>
              <a:t>Core Reading: Operations Strategy</a:t>
            </a:r>
            <a:r>
              <a:rPr lang="en-US" sz="800" dirty="0">
                <a:solidFill>
                  <a:srgbClr val="7F7F7F"/>
                </a:solidFill>
                <a:latin typeface="Arial"/>
                <a:cs typeface="Arial"/>
              </a:rPr>
              <a:t>, HBP No. 8000 (Boston: Harvard Business School Publishing, 2013, 2024). </a:t>
            </a:r>
            <a:r>
              <a:rPr lang="en-US" sz="800" dirty="0">
                <a:solidFill>
                  <a:schemeClr val="bg1">
                    <a:lumMod val="50000"/>
                  </a:schemeClr>
                </a:solidFill>
                <a:latin typeface="Arial"/>
                <a:ea typeface="MS Mincho"/>
                <a:cs typeface="Arial"/>
              </a:rPr>
              <a:t>© </a:t>
            </a:r>
            <a:r>
              <a:rPr lang="en-US" sz="800" dirty="0">
                <a:solidFill>
                  <a:srgbClr val="7F7F7F"/>
                </a:solidFill>
                <a:latin typeface="Arial"/>
                <a:cs typeface="Arial"/>
              </a:rPr>
              <a:t>Copying or posting is an infringement of copyright. </a:t>
            </a:r>
          </a:p>
        </p:txBody>
      </p:sp>
    </p:spTree>
    <p:extLst>
      <p:ext uri="{BB962C8B-B14F-4D97-AF65-F5344CB8AC3E}">
        <p14:creationId xmlns:p14="http://schemas.microsoft.com/office/powerpoint/2010/main" val="3324352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E046566-E3EE-09D1-7C13-748CDEE53C09}"/>
              </a:ext>
            </a:extLst>
          </p:cNvPr>
          <p:cNvGrpSpPr/>
          <p:nvPr/>
        </p:nvGrpSpPr>
        <p:grpSpPr>
          <a:xfrm>
            <a:off x="-1186862" y="192118"/>
            <a:ext cx="10097591" cy="642455"/>
            <a:chOff x="-1186862" y="192118"/>
            <a:chExt cx="10097591" cy="642455"/>
          </a:xfrm>
        </p:grpSpPr>
        <p:pic>
          <p:nvPicPr>
            <p:cNvPr id="15" name="Picture 14" descr="orange_bar.png">
              <a:extLst>
                <a:ext uri="{FF2B5EF4-FFF2-40B4-BE49-F238E27FC236}">
                  <a16:creationId xmlns:a16="http://schemas.microsoft.com/office/drawing/2014/main" id="{EE79B793-8639-04A6-FA3B-C451AFD519C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4763" r="-2"/>
            <a:stretch/>
          </p:blipFill>
          <p:spPr>
            <a:xfrm>
              <a:off x="-1186862" y="285120"/>
              <a:ext cx="5979790" cy="432000"/>
            </a:xfrm>
            <a:prstGeom prst="rect">
              <a:avLst/>
            </a:prstGeom>
            <a:effectLst>
              <a:outerShdw blurRad="76200" dist="38100" dir="2700000" algn="tl" rotWithShape="0">
                <a:srgbClr val="000000">
                  <a:alpha val="2000"/>
                </a:srgbClr>
              </a:outerShdw>
            </a:effectLst>
          </p:spPr>
        </p:pic>
        <p:sp>
          <p:nvSpPr>
            <p:cNvPr id="16" name="TextBox 15">
              <a:extLst>
                <a:ext uri="{FF2B5EF4-FFF2-40B4-BE49-F238E27FC236}">
                  <a16:creationId xmlns:a16="http://schemas.microsoft.com/office/drawing/2014/main" id="{E6B82875-0EB6-E623-6E66-77A7F963E3A9}"/>
                </a:ext>
              </a:extLst>
            </p:cNvPr>
            <p:cNvSpPr txBox="1"/>
            <p:nvPr/>
          </p:nvSpPr>
          <p:spPr>
            <a:xfrm>
              <a:off x="233271" y="207360"/>
              <a:ext cx="5495321" cy="553998"/>
            </a:xfrm>
            <a:prstGeom prst="rect">
              <a:avLst/>
            </a:prstGeom>
            <a:noFill/>
          </p:spPr>
          <p:txBody>
            <a:bodyPr wrap="square" rtlCol="0">
              <a:spAutoFit/>
            </a:bodyPr>
            <a:lstStyle/>
            <a:p>
              <a:r>
                <a:rPr lang="en-US" sz="3000" spc="100" dirty="0">
                  <a:solidFill>
                    <a:schemeClr val="bg1"/>
                  </a:solidFill>
                  <a:latin typeface="Gotham Black"/>
                  <a:cs typeface="Gotham Black"/>
                </a:rPr>
                <a:t>CORE CURRICULUM</a:t>
              </a:r>
            </a:p>
          </p:txBody>
        </p:sp>
        <p:pic>
          <p:nvPicPr>
            <p:cNvPr id="17" name="Picture 16">
              <a:extLst>
                <a:ext uri="{FF2B5EF4-FFF2-40B4-BE49-F238E27FC236}">
                  <a16:creationId xmlns:a16="http://schemas.microsoft.com/office/drawing/2014/main" id="{3622C4C2-698B-3583-0947-720D2A0652A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586133" y="192118"/>
              <a:ext cx="1324596" cy="642455"/>
            </a:xfrm>
            <a:prstGeom prst="rect">
              <a:avLst/>
            </a:prstGeom>
          </p:spPr>
        </p:pic>
      </p:grpSp>
      <p:sp>
        <p:nvSpPr>
          <p:cNvPr id="7" name="Title 5"/>
          <p:cNvSpPr txBox="1">
            <a:spLocks noGrp="1"/>
          </p:cNvSpPr>
          <p:nvPr>
            <p:ph type="title" idx="4294967295"/>
          </p:nvPr>
        </p:nvSpPr>
        <p:spPr>
          <a:xfrm>
            <a:off x="317501" y="823767"/>
            <a:ext cx="3104710" cy="58665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rial"/>
                <a:ea typeface="+mj-ea"/>
                <a:cs typeface="Arial"/>
              </a:rPr>
              <a:t>Operations Decision Areas </a:t>
            </a:r>
            <a:endParaRPr kumimoji="0" lang="en-US" sz="3200" b="0" i="0" u="none" strike="noStrike" kern="1200" cap="none" spc="0" normalizeH="0" baseline="0" noProof="0" dirty="0">
              <a:ln>
                <a:noFill/>
              </a:ln>
              <a:solidFill>
                <a:schemeClr val="tx1"/>
              </a:solidFill>
              <a:effectLst/>
              <a:uLnTx/>
              <a:uFillTx/>
              <a:latin typeface="Arial"/>
              <a:ea typeface="Arial Unicode MS" panose="020B0604020202020204" pitchFamily="34" charset="-128"/>
              <a:cs typeface="Arial"/>
            </a:endParaRPr>
          </a:p>
        </p:txBody>
      </p:sp>
      <p:pic>
        <p:nvPicPr>
          <p:cNvPr id="13" name="Picture 12" descr="A blue and black business chart&#10;&#10;Description automatically generated with medium confidence">
            <a:extLst>
              <a:ext uri="{FF2B5EF4-FFF2-40B4-BE49-F238E27FC236}">
                <a16:creationId xmlns:a16="http://schemas.microsoft.com/office/drawing/2014/main" id="{CA237B83-11AA-91D5-0AD8-8CA941FCC3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77960" y="1192307"/>
            <a:ext cx="4370471" cy="5016593"/>
          </a:xfrm>
          <a:prstGeom prst="rect">
            <a:avLst/>
          </a:prstGeom>
        </p:spPr>
      </p:pic>
      <p:sp>
        <p:nvSpPr>
          <p:cNvPr id="9" name="TextBox 8"/>
          <p:cNvSpPr txBox="1"/>
          <p:nvPr/>
        </p:nvSpPr>
        <p:spPr>
          <a:xfrm>
            <a:off x="317501" y="5708252"/>
            <a:ext cx="3303885" cy="861780"/>
          </a:xfrm>
          <a:prstGeom prst="rect">
            <a:avLst/>
          </a:prstGeom>
          <a:noFill/>
        </p:spPr>
        <p:txBody>
          <a:bodyPr wrap="square" lIns="0" tIns="0" rIns="0" bIns="0" rtlCol="0" anchor="b" anchorCtr="0">
            <a:noAutofit/>
          </a:bodyPr>
          <a:lstStyle/>
          <a:p>
            <a:pPr>
              <a:lnSpc>
                <a:spcPts val="1100"/>
              </a:lnSpc>
            </a:pPr>
            <a:r>
              <a:rPr lang="en-US" sz="800" i="1" dirty="0">
                <a:solidFill>
                  <a:schemeClr val="bg1">
                    <a:lumMod val="50000"/>
                  </a:schemeClr>
                </a:solidFill>
                <a:latin typeface="Arial"/>
                <a:ea typeface="+mn-lt"/>
                <a:cs typeface="+mn-lt"/>
              </a:rPr>
              <a:t>Source:</a:t>
            </a:r>
            <a:r>
              <a:rPr lang="en-US" sz="800" dirty="0">
                <a:solidFill>
                  <a:schemeClr val="bg1">
                    <a:lumMod val="50000"/>
                  </a:schemeClr>
                </a:solidFill>
                <a:latin typeface="Arial"/>
                <a:ea typeface="+mn-lt"/>
                <a:cs typeface="+mn-lt"/>
              </a:rPr>
              <a:t> Adapted from Steven Wheelwright, “Japan—Where Operations Really Are Strategic,” </a:t>
            </a:r>
            <a:r>
              <a:rPr lang="en-US" sz="800" i="1" dirty="0">
                <a:solidFill>
                  <a:schemeClr val="bg1">
                    <a:lumMod val="50000"/>
                  </a:schemeClr>
                </a:solidFill>
                <a:latin typeface="Arial"/>
                <a:ea typeface="+mn-lt"/>
                <a:cs typeface="+mn-lt"/>
              </a:rPr>
              <a:t>Harvard Business Review </a:t>
            </a:r>
            <a:r>
              <a:rPr lang="en-US" sz="800" dirty="0">
                <a:solidFill>
                  <a:schemeClr val="bg1">
                    <a:lumMod val="50000"/>
                  </a:schemeClr>
                </a:solidFill>
                <a:latin typeface="Arial"/>
                <a:ea typeface="+mn-lt"/>
                <a:cs typeface="+mn-lt"/>
              </a:rPr>
              <a:t>59, no. 4, (1981): 68.</a:t>
            </a:r>
          </a:p>
          <a:p>
            <a:pPr>
              <a:lnSpc>
                <a:spcPts val="1100"/>
              </a:lnSpc>
            </a:pPr>
            <a:endParaRPr lang="en-US" sz="800" dirty="0">
              <a:solidFill>
                <a:srgbClr val="7F7F7F"/>
              </a:solidFill>
              <a:latin typeface="Arial"/>
              <a:ea typeface="+mn-lt"/>
              <a:cs typeface="Arial"/>
            </a:endParaRPr>
          </a:p>
          <a:p>
            <a:pPr>
              <a:lnSpc>
                <a:spcPct val="110000"/>
              </a:lnSpc>
            </a:pPr>
            <a:r>
              <a:rPr lang="en-US" sz="800" dirty="0">
                <a:solidFill>
                  <a:srgbClr val="7F7F7F"/>
                </a:solidFill>
                <a:latin typeface="Arial"/>
                <a:cs typeface="Arial"/>
              </a:rPr>
              <a:t>Marco </a:t>
            </a:r>
            <a:r>
              <a:rPr lang="en-US" sz="800" dirty="0" err="1">
                <a:solidFill>
                  <a:srgbClr val="7F7F7F"/>
                </a:solidFill>
                <a:latin typeface="Arial"/>
                <a:cs typeface="Arial"/>
              </a:rPr>
              <a:t>Iansiti</a:t>
            </a:r>
            <a:r>
              <a:rPr lang="en-US" sz="800" dirty="0">
                <a:solidFill>
                  <a:srgbClr val="7F7F7F"/>
                </a:solidFill>
                <a:latin typeface="Arial"/>
                <a:cs typeface="Arial"/>
              </a:rPr>
              <a:t> and Alain </a:t>
            </a:r>
            <a:r>
              <a:rPr lang="en-US" sz="800" dirty="0" err="1">
                <a:solidFill>
                  <a:srgbClr val="7F7F7F"/>
                </a:solidFill>
                <a:latin typeface="Arial"/>
                <a:cs typeface="Arial"/>
              </a:rPr>
              <a:t>Serels</a:t>
            </a:r>
            <a:r>
              <a:rPr lang="en-US" sz="800" dirty="0">
                <a:solidFill>
                  <a:srgbClr val="7F7F7F"/>
                </a:solidFill>
                <a:latin typeface="Arial"/>
                <a:cs typeface="Arial"/>
              </a:rPr>
              <a:t>, </a:t>
            </a:r>
            <a:r>
              <a:rPr lang="en-US" sz="800" i="1" dirty="0">
                <a:solidFill>
                  <a:srgbClr val="7F7F7F"/>
                </a:solidFill>
                <a:latin typeface="Arial"/>
                <a:cs typeface="Arial"/>
              </a:rPr>
              <a:t>Core Reading: Operations Strategy</a:t>
            </a:r>
            <a:r>
              <a:rPr lang="en-US" sz="800" dirty="0">
                <a:solidFill>
                  <a:srgbClr val="7F7F7F"/>
                </a:solidFill>
                <a:latin typeface="Arial"/>
                <a:cs typeface="Arial"/>
              </a:rPr>
              <a:t>, HBP No. 8000 (Boston: Harvard Business School Publishing, 2013, 2024). </a:t>
            </a:r>
            <a:r>
              <a:rPr lang="en-US" sz="800" dirty="0">
                <a:solidFill>
                  <a:schemeClr val="bg1">
                    <a:lumMod val="50000"/>
                  </a:schemeClr>
                </a:solidFill>
                <a:latin typeface="Arial"/>
                <a:ea typeface="MS Mincho"/>
                <a:cs typeface="Arial"/>
              </a:rPr>
              <a:t>© </a:t>
            </a:r>
            <a:r>
              <a:rPr lang="en-US" sz="800" dirty="0">
                <a:solidFill>
                  <a:srgbClr val="7F7F7F"/>
                </a:solidFill>
                <a:latin typeface="Arial"/>
                <a:cs typeface="Arial"/>
              </a:rPr>
              <a:t>Copying or posting is an infringement of copyright. </a:t>
            </a:r>
          </a:p>
        </p:txBody>
      </p:sp>
    </p:spTree>
    <p:extLst>
      <p:ext uri="{BB962C8B-B14F-4D97-AF65-F5344CB8AC3E}">
        <p14:creationId xmlns:p14="http://schemas.microsoft.com/office/powerpoint/2010/main" val="1386454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E046566-E3EE-09D1-7C13-748CDEE53C09}"/>
              </a:ext>
            </a:extLst>
          </p:cNvPr>
          <p:cNvGrpSpPr/>
          <p:nvPr/>
        </p:nvGrpSpPr>
        <p:grpSpPr>
          <a:xfrm>
            <a:off x="-1186862" y="192118"/>
            <a:ext cx="10097591" cy="642455"/>
            <a:chOff x="-1186862" y="192118"/>
            <a:chExt cx="10097591" cy="642455"/>
          </a:xfrm>
        </p:grpSpPr>
        <p:pic>
          <p:nvPicPr>
            <p:cNvPr id="15" name="Picture 14" descr="orange_bar.png">
              <a:extLst>
                <a:ext uri="{FF2B5EF4-FFF2-40B4-BE49-F238E27FC236}">
                  <a16:creationId xmlns:a16="http://schemas.microsoft.com/office/drawing/2014/main" id="{EE79B793-8639-04A6-FA3B-C451AFD519C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4763" r="-2"/>
            <a:stretch/>
          </p:blipFill>
          <p:spPr>
            <a:xfrm>
              <a:off x="-1186862" y="285120"/>
              <a:ext cx="5979790" cy="432000"/>
            </a:xfrm>
            <a:prstGeom prst="rect">
              <a:avLst/>
            </a:prstGeom>
            <a:effectLst>
              <a:outerShdw blurRad="76200" dist="38100" dir="2700000" algn="tl" rotWithShape="0">
                <a:srgbClr val="000000">
                  <a:alpha val="2000"/>
                </a:srgbClr>
              </a:outerShdw>
            </a:effectLst>
          </p:spPr>
        </p:pic>
        <p:sp>
          <p:nvSpPr>
            <p:cNvPr id="16" name="TextBox 15">
              <a:extLst>
                <a:ext uri="{FF2B5EF4-FFF2-40B4-BE49-F238E27FC236}">
                  <a16:creationId xmlns:a16="http://schemas.microsoft.com/office/drawing/2014/main" id="{E6B82875-0EB6-E623-6E66-77A7F963E3A9}"/>
                </a:ext>
              </a:extLst>
            </p:cNvPr>
            <p:cNvSpPr txBox="1"/>
            <p:nvPr/>
          </p:nvSpPr>
          <p:spPr>
            <a:xfrm>
              <a:off x="233271" y="207360"/>
              <a:ext cx="5495321" cy="553998"/>
            </a:xfrm>
            <a:prstGeom prst="rect">
              <a:avLst/>
            </a:prstGeom>
            <a:noFill/>
          </p:spPr>
          <p:txBody>
            <a:bodyPr wrap="square" rtlCol="0">
              <a:spAutoFit/>
            </a:bodyPr>
            <a:lstStyle/>
            <a:p>
              <a:r>
                <a:rPr lang="en-US" sz="3000" spc="100" dirty="0">
                  <a:solidFill>
                    <a:schemeClr val="bg1"/>
                  </a:solidFill>
                  <a:latin typeface="Gotham Black"/>
                  <a:cs typeface="Gotham Black"/>
                </a:rPr>
                <a:t>CORE CURRICULUM</a:t>
              </a:r>
            </a:p>
          </p:txBody>
        </p:sp>
        <p:pic>
          <p:nvPicPr>
            <p:cNvPr id="17" name="Picture 16">
              <a:extLst>
                <a:ext uri="{FF2B5EF4-FFF2-40B4-BE49-F238E27FC236}">
                  <a16:creationId xmlns:a16="http://schemas.microsoft.com/office/drawing/2014/main" id="{3622C4C2-698B-3583-0947-720D2A0652A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586133" y="192118"/>
              <a:ext cx="1324596" cy="642455"/>
            </a:xfrm>
            <a:prstGeom prst="rect">
              <a:avLst/>
            </a:prstGeom>
          </p:spPr>
        </p:pic>
      </p:grpSp>
      <p:sp>
        <p:nvSpPr>
          <p:cNvPr id="7" name="Title 5"/>
          <p:cNvSpPr txBox="1">
            <a:spLocks noGrp="1"/>
          </p:cNvSpPr>
          <p:nvPr>
            <p:ph type="title" idx="4294967295"/>
          </p:nvPr>
        </p:nvSpPr>
        <p:spPr>
          <a:xfrm>
            <a:off x="317501" y="823767"/>
            <a:ext cx="3104710" cy="58665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rial"/>
                <a:ea typeface="Arial Unicode MS" panose="020B0604020202020204" pitchFamily="34" charset="-128"/>
                <a:cs typeface="Arial"/>
              </a:rPr>
              <a:t>Microsoft STB’s Traditional Operations Strategy</a:t>
            </a:r>
          </a:p>
        </p:txBody>
      </p:sp>
      <p:pic>
        <p:nvPicPr>
          <p:cNvPr id="5" name="Picture 4" descr="A table of informational text&#10;&#10;Description automatically generated with medium confidence">
            <a:extLst>
              <a:ext uri="{FF2B5EF4-FFF2-40B4-BE49-F238E27FC236}">
                <a16:creationId xmlns:a16="http://schemas.microsoft.com/office/drawing/2014/main" id="{D7DC70CD-B9B3-8A15-09E5-3C569798EE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44515" y="1472835"/>
            <a:ext cx="6381984" cy="4370471"/>
          </a:xfrm>
          <a:prstGeom prst="rect">
            <a:avLst/>
          </a:prstGeom>
        </p:spPr>
      </p:pic>
      <p:sp>
        <p:nvSpPr>
          <p:cNvPr id="9" name="TextBox 8"/>
          <p:cNvSpPr txBox="1"/>
          <p:nvPr/>
        </p:nvSpPr>
        <p:spPr>
          <a:xfrm>
            <a:off x="317501" y="5708252"/>
            <a:ext cx="8346665" cy="861780"/>
          </a:xfrm>
          <a:prstGeom prst="rect">
            <a:avLst/>
          </a:prstGeom>
          <a:noFill/>
        </p:spPr>
        <p:txBody>
          <a:bodyPr wrap="square" lIns="0" tIns="0" rIns="0" bIns="0" rtlCol="0" anchor="b" anchorCtr="0">
            <a:noAutofit/>
          </a:bodyPr>
          <a:lstStyle/>
          <a:p>
            <a:pPr>
              <a:lnSpc>
                <a:spcPts val="1100"/>
              </a:lnSpc>
            </a:pPr>
            <a:r>
              <a:rPr lang="en-US" sz="800" i="1" dirty="0">
                <a:solidFill>
                  <a:schemeClr val="bg1">
                    <a:lumMod val="50000"/>
                  </a:schemeClr>
                </a:solidFill>
                <a:latin typeface="Arial"/>
                <a:ea typeface="+mn-lt"/>
                <a:cs typeface="+mn-lt"/>
              </a:rPr>
              <a:t>Source:</a:t>
            </a:r>
            <a:r>
              <a:rPr lang="en-US" sz="800" dirty="0">
                <a:solidFill>
                  <a:schemeClr val="bg1">
                    <a:lumMod val="50000"/>
                  </a:schemeClr>
                </a:solidFill>
                <a:latin typeface="Arial"/>
                <a:ea typeface="+mn-lt"/>
                <a:cs typeface="+mn-lt"/>
              </a:rPr>
              <a:t> Adapted from Marco </a:t>
            </a:r>
            <a:r>
              <a:rPr lang="en-US" sz="800" dirty="0" err="1">
                <a:solidFill>
                  <a:schemeClr val="bg1">
                    <a:lumMod val="50000"/>
                  </a:schemeClr>
                </a:solidFill>
                <a:latin typeface="Arial"/>
                <a:ea typeface="+mn-lt"/>
                <a:cs typeface="+mn-lt"/>
              </a:rPr>
              <a:t>Iansiti</a:t>
            </a:r>
            <a:r>
              <a:rPr lang="en-US" sz="800" dirty="0">
                <a:solidFill>
                  <a:schemeClr val="bg1">
                    <a:lumMod val="50000"/>
                  </a:schemeClr>
                </a:solidFill>
                <a:latin typeface="Arial"/>
                <a:ea typeface="+mn-lt"/>
                <a:cs typeface="+mn-lt"/>
              </a:rPr>
              <a:t> and Alain </a:t>
            </a:r>
            <a:r>
              <a:rPr lang="en-US" sz="800" dirty="0" err="1">
                <a:solidFill>
                  <a:schemeClr val="bg1">
                    <a:lumMod val="50000"/>
                  </a:schemeClr>
                </a:solidFill>
                <a:latin typeface="Arial"/>
                <a:ea typeface="+mn-lt"/>
                <a:cs typeface="+mn-lt"/>
              </a:rPr>
              <a:t>Serels</a:t>
            </a:r>
            <a:r>
              <a:rPr lang="en-US" sz="800" dirty="0">
                <a:solidFill>
                  <a:schemeClr val="bg1">
                    <a:lumMod val="50000"/>
                  </a:schemeClr>
                </a:solidFill>
                <a:latin typeface="Arial"/>
                <a:ea typeface="+mn-lt"/>
                <a:cs typeface="+mn-lt"/>
              </a:rPr>
              <a:t>, “Microsoft Server &amp; Tools,” HBS No. 613-031 (Boston: Harvard Business School, 2013). </a:t>
            </a:r>
          </a:p>
          <a:p>
            <a:pPr>
              <a:lnSpc>
                <a:spcPts val="1100"/>
              </a:lnSpc>
            </a:pPr>
            <a:endParaRPr lang="en-US" sz="800" dirty="0">
              <a:solidFill>
                <a:srgbClr val="7F7F7F"/>
              </a:solidFill>
              <a:latin typeface="Arial"/>
              <a:ea typeface="+mn-lt"/>
              <a:cs typeface="Arial"/>
            </a:endParaRPr>
          </a:p>
          <a:p>
            <a:pPr>
              <a:lnSpc>
                <a:spcPct val="110000"/>
              </a:lnSpc>
            </a:pPr>
            <a:r>
              <a:rPr lang="en-US" sz="800" dirty="0">
                <a:solidFill>
                  <a:srgbClr val="7F7F7F"/>
                </a:solidFill>
                <a:latin typeface="Arial"/>
                <a:cs typeface="Arial"/>
              </a:rPr>
              <a:t>Marco </a:t>
            </a:r>
            <a:r>
              <a:rPr lang="en-US" sz="800" dirty="0" err="1">
                <a:solidFill>
                  <a:srgbClr val="7F7F7F"/>
                </a:solidFill>
                <a:latin typeface="Arial"/>
                <a:cs typeface="Arial"/>
              </a:rPr>
              <a:t>Iansiti</a:t>
            </a:r>
            <a:r>
              <a:rPr lang="en-US" sz="800" dirty="0">
                <a:solidFill>
                  <a:srgbClr val="7F7F7F"/>
                </a:solidFill>
                <a:latin typeface="Arial"/>
                <a:cs typeface="Arial"/>
              </a:rPr>
              <a:t> and Alain </a:t>
            </a:r>
            <a:r>
              <a:rPr lang="en-US" sz="800" dirty="0" err="1">
                <a:solidFill>
                  <a:srgbClr val="7F7F7F"/>
                </a:solidFill>
                <a:latin typeface="Arial"/>
                <a:cs typeface="Arial"/>
              </a:rPr>
              <a:t>Serels</a:t>
            </a:r>
            <a:r>
              <a:rPr lang="en-US" sz="800" dirty="0">
                <a:solidFill>
                  <a:srgbClr val="7F7F7F"/>
                </a:solidFill>
                <a:latin typeface="Arial"/>
                <a:cs typeface="Arial"/>
              </a:rPr>
              <a:t>, </a:t>
            </a:r>
            <a:r>
              <a:rPr lang="en-US" sz="800" i="1" dirty="0">
                <a:solidFill>
                  <a:srgbClr val="7F7F7F"/>
                </a:solidFill>
                <a:latin typeface="Arial"/>
                <a:cs typeface="Arial"/>
              </a:rPr>
              <a:t>Core Reading: Operations Strategy</a:t>
            </a:r>
            <a:r>
              <a:rPr lang="en-US" sz="800" dirty="0">
                <a:solidFill>
                  <a:srgbClr val="7F7F7F"/>
                </a:solidFill>
                <a:latin typeface="Arial"/>
                <a:cs typeface="Arial"/>
              </a:rPr>
              <a:t>, HBP No. 8000 (Boston: Harvard Business School Publishing, 2013, 2024). </a:t>
            </a:r>
            <a:r>
              <a:rPr lang="en-US" sz="800" dirty="0">
                <a:solidFill>
                  <a:schemeClr val="bg1">
                    <a:lumMod val="50000"/>
                  </a:schemeClr>
                </a:solidFill>
                <a:latin typeface="Arial"/>
                <a:ea typeface="MS Mincho"/>
                <a:cs typeface="Arial"/>
              </a:rPr>
              <a:t>© </a:t>
            </a:r>
            <a:r>
              <a:rPr lang="en-US" sz="800" dirty="0">
                <a:solidFill>
                  <a:srgbClr val="7F7F7F"/>
                </a:solidFill>
                <a:latin typeface="Arial"/>
                <a:cs typeface="Arial"/>
              </a:rPr>
              <a:t>Copying or posting is an infringement of copyright. </a:t>
            </a:r>
          </a:p>
        </p:txBody>
      </p:sp>
    </p:spTree>
    <p:extLst>
      <p:ext uri="{BB962C8B-B14F-4D97-AF65-F5344CB8AC3E}">
        <p14:creationId xmlns:p14="http://schemas.microsoft.com/office/powerpoint/2010/main" val="3384584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5EDB879-C9BA-44DF-9CDD-71BF3174523C}"/>
              </a:ext>
            </a:extLst>
          </p:cNvPr>
          <p:cNvGrpSpPr/>
          <p:nvPr/>
        </p:nvGrpSpPr>
        <p:grpSpPr>
          <a:xfrm>
            <a:off x="-1186862" y="192118"/>
            <a:ext cx="10097591" cy="642455"/>
            <a:chOff x="-1186862" y="192118"/>
            <a:chExt cx="10097591" cy="642455"/>
          </a:xfrm>
        </p:grpSpPr>
        <p:pic>
          <p:nvPicPr>
            <p:cNvPr id="15" name="Picture 14" descr="orange_bar.png">
              <a:extLst>
                <a:ext uri="{FF2B5EF4-FFF2-40B4-BE49-F238E27FC236}">
                  <a16:creationId xmlns:a16="http://schemas.microsoft.com/office/drawing/2014/main" id="{2B002920-4A83-77EA-1EFE-261ECA1046B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4763" r="-2"/>
            <a:stretch/>
          </p:blipFill>
          <p:spPr>
            <a:xfrm>
              <a:off x="-1186862" y="285120"/>
              <a:ext cx="5979790" cy="432000"/>
            </a:xfrm>
            <a:prstGeom prst="rect">
              <a:avLst/>
            </a:prstGeom>
            <a:effectLst>
              <a:outerShdw blurRad="76200" dist="38100" dir="2700000" algn="tl" rotWithShape="0">
                <a:srgbClr val="000000">
                  <a:alpha val="2000"/>
                </a:srgbClr>
              </a:outerShdw>
            </a:effectLst>
          </p:spPr>
        </p:pic>
        <p:sp>
          <p:nvSpPr>
            <p:cNvPr id="16" name="TextBox 15">
              <a:extLst>
                <a:ext uri="{FF2B5EF4-FFF2-40B4-BE49-F238E27FC236}">
                  <a16:creationId xmlns:a16="http://schemas.microsoft.com/office/drawing/2014/main" id="{189E98F3-DD9E-5811-3AEF-EEB9B583AF38}"/>
                </a:ext>
              </a:extLst>
            </p:cNvPr>
            <p:cNvSpPr txBox="1"/>
            <p:nvPr/>
          </p:nvSpPr>
          <p:spPr>
            <a:xfrm>
              <a:off x="233271" y="207360"/>
              <a:ext cx="5495321" cy="553998"/>
            </a:xfrm>
            <a:prstGeom prst="rect">
              <a:avLst/>
            </a:prstGeom>
            <a:noFill/>
          </p:spPr>
          <p:txBody>
            <a:bodyPr wrap="square" rtlCol="0">
              <a:spAutoFit/>
            </a:bodyPr>
            <a:lstStyle/>
            <a:p>
              <a:r>
                <a:rPr lang="en-US" sz="3000" spc="100" dirty="0">
                  <a:solidFill>
                    <a:schemeClr val="bg1"/>
                  </a:solidFill>
                  <a:latin typeface="Gotham Black"/>
                  <a:cs typeface="Gotham Black"/>
                </a:rPr>
                <a:t>CORE CURRICULUM</a:t>
              </a:r>
            </a:p>
          </p:txBody>
        </p:sp>
        <p:pic>
          <p:nvPicPr>
            <p:cNvPr id="17" name="Picture 16">
              <a:extLst>
                <a:ext uri="{FF2B5EF4-FFF2-40B4-BE49-F238E27FC236}">
                  <a16:creationId xmlns:a16="http://schemas.microsoft.com/office/drawing/2014/main" id="{EF434C32-F0CB-6848-543C-9075D7F600A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586133" y="192118"/>
              <a:ext cx="1324596" cy="642455"/>
            </a:xfrm>
            <a:prstGeom prst="rect">
              <a:avLst/>
            </a:prstGeom>
          </p:spPr>
        </p:pic>
      </p:grpSp>
      <p:sp>
        <p:nvSpPr>
          <p:cNvPr id="7" name="Title 5"/>
          <p:cNvSpPr txBox="1">
            <a:spLocks noGrp="1"/>
          </p:cNvSpPr>
          <p:nvPr>
            <p:ph type="title" idx="4294967295"/>
          </p:nvPr>
        </p:nvSpPr>
        <p:spPr>
          <a:xfrm>
            <a:off x="317500" y="823767"/>
            <a:ext cx="8201787" cy="58665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rial"/>
                <a:ea typeface="+mj-ea"/>
                <a:cs typeface="Arial"/>
              </a:rPr>
              <a:t>Microsoft STB’s Cloud Operations Strategy (2013) </a:t>
            </a:r>
            <a:endParaRPr kumimoji="0" lang="en-US" sz="3200" b="0" i="0" u="none" strike="noStrike" kern="1200" cap="none" spc="0" normalizeH="0" baseline="0" noProof="0" dirty="0">
              <a:ln>
                <a:noFill/>
              </a:ln>
              <a:solidFill>
                <a:schemeClr val="tx1"/>
              </a:solidFill>
              <a:effectLst/>
              <a:uLnTx/>
              <a:uFillTx/>
              <a:latin typeface="Arial"/>
              <a:ea typeface="Arial Unicode MS" panose="020B0604020202020204" pitchFamily="34" charset="-128"/>
              <a:cs typeface="Arial"/>
            </a:endParaRPr>
          </a:p>
        </p:txBody>
      </p:sp>
      <p:pic>
        <p:nvPicPr>
          <p:cNvPr id="5" name="Picture 4" descr="A table of informational text&#10;&#10;Description automatically generated with medium confidence">
            <a:extLst>
              <a:ext uri="{FF2B5EF4-FFF2-40B4-BE49-F238E27FC236}">
                <a16:creationId xmlns:a16="http://schemas.microsoft.com/office/drawing/2014/main" id="{2A94C6F8-4882-C998-2581-04198C4266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03033" y="1393007"/>
            <a:ext cx="6100642" cy="4614663"/>
          </a:xfrm>
          <a:prstGeom prst="rect">
            <a:avLst/>
          </a:prstGeom>
        </p:spPr>
      </p:pic>
      <p:sp>
        <p:nvSpPr>
          <p:cNvPr id="9" name="TextBox 8"/>
          <p:cNvSpPr txBox="1"/>
          <p:nvPr/>
        </p:nvSpPr>
        <p:spPr>
          <a:xfrm>
            <a:off x="317501" y="5708252"/>
            <a:ext cx="8291286" cy="861780"/>
          </a:xfrm>
          <a:prstGeom prst="rect">
            <a:avLst/>
          </a:prstGeom>
          <a:noFill/>
        </p:spPr>
        <p:txBody>
          <a:bodyPr wrap="square" lIns="0" tIns="0" rIns="0" bIns="0" rtlCol="0" anchor="b" anchorCtr="0">
            <a:noAutofit/>
          </a:bodyPr>
          <a:lstStyle/>
          <a:p>
            <a:pPr>
              <a:lnSpc>
                <a:spcPct val="110000"/>
              </a:lnSpc>
            </a:pPr>
            <a:endParaRPr lang="en-US" sz="800" dirty="0">
              <a:solidFill>
                <a:srgbClr val="7F7F7F"/>
              </a:solidFill>
              <a:latin typeface="Arial"/>
              <a:cs typeface="Arial"/>
            </a:endParaRPr>
          </a:p>
          <a:p>
            <a:pPr>
              <a:lnSpc>
                <a:spcPct val="110000"/>
              </a:lnSpc>
            </a:pPr>
            <a:r>
              <a:rPr lang="en-US" sz="800" dirty="0">
                <a:solidFill>
                  <a:srgbClr val="7F7F7F"/>
                </a:solidFill>
                <a:latin typeface="Arial"/>
                <a:cs typeface="Arial"/>
              </a:rPr>
              <a:t>Source: Adapted from Marco </a:t>
            </a:r>
            <a:r>
              <a:rPr lang="en-US" sz="800" dirty="0" err="1">
                <a:solidFill>
                  <a:srgbClr val="7F7F7F"/>
                </a:solidFill>
                <a:latin typeface="Arial"/>
                <a:cs typeface="Arial"/>
              </a:rPr>
              <a:t>Iansiti</a:t>
            </a:r>
            <a:r>
              <a:rPr lang="en-US" sz="800" dirty="0">
                <a:solidFill>
                  <a:srgbClr val="7F7F7F"/>
                </a:solidFill>
                <a:latin typeface="Arial"/>
                <a:cs typeface="Arial"/>
              </a:rPr>
              <a:t> and Alain </a:t>
            </a:r>
            <a:r>
              <a:rPr lang="en-US" sz="800" dirty="0" err="1">
                <a:solidFill>
                  <a:srgbClr val="7F7F7F"/>
                </a:solidFill>
                <a:latin typeface="Arial"/>
                <a:cs typeface="Arial"/>
              </a:rPr>
              <a:t>Serels</a:t>
            </a:r>
            <a:r>
              <a:rPr lang="en-US" sz="800" dirty="0">
                <a:solidFill>
                  <a:srgbClr val="7F7F7F"/>
                </a:solidFill>
                <a:latin typeface="Arial"/>
                <a:cs typeface="Arial"/>
              </a:rPr>
              <a:t>, “Microsoft Server &amp; Tools,” HBS No. 613-031 (Boston: Harvard Business School, 2013). </a:t>
            </a:r>
          </a:p>
          <a:p>
            <a:pPr>
              <a:lnSpc>
                <a:spcPct val="110000"/>
              </a:lnSpc>
            </a:pPr>
            <a:endParaRPr lang="en-US" sz="800" dirty="0">
              <a:solidFill>
                <a:srgbClr val="7F7F7F"/>
              </a:solidFill>
              <a:latin typeface="Arial"/>
              <a:cs typeface="Arial"/>
            </a:endParaRPr>
          </a:p>
          <a:p>
            <a:pPr>
              <a:lnSpc>
                <a:spcPct val="110000"/>
              </a:lnSpc>
            </a:pPr>
            <a:r>
              <a:rPr lang="en-US" sz="800" dirty="0">
                <a:solidFill>
                  <a:srgbClr val="7F7F7F"/>
                </a:solidFill>
                <a:latin typeface="Arial"/>
                <a:cs typeface="Arial"/>
              </a:rPr>
              <a:t>Marco </a:t>
            </a:r>
            <a:r>
              <a:rPr lang="en-US" sz="800" dirty="0" err="1">
                <a:solidFill>
                  <a:srgbClr val="7F7F7F"/>
                </a:solidFill>
                <a:latin typeface="Arial"/>
                <a:cs typeface="Arial"/>
              </a:rPr>
              <a:t>Iansiti</a:t>
            </a:r>
            <a:r>
              <a:rPr lang="en-US" sz="800" dirty="0">
                <a:solidFill>
                  <a:srgbClr val="7F7F7F"/>
                </a:solidFill>
                <a:latin typeface="Arial"/>
                <a:cs typeface="Arial"/>
              </a:rPr>
              <a:t> and Alain </a:t>
            </a:r>
            <a:r>
              <a:rPr lang="en-US" sz="800" dirty="0" err="1">
                <a:solidFill>
                  <a:srgbClr val="7F7F7F"/>
                </a:solidFill>
                <a:latin typeface="Arial"/>
                <a:cs typeface="Arial"/>
              </a:rPr>
              <a:t>Serels</a:t>
            </a:r>
            <a:r>
              <a:rPr lang="en-US" sz="800" dirty="0">
                <a:solidFill>
                  <a:srgbClr val="7F7F7F"/>
                </a:solidFill>
                <a:latin typeface="Arial"/>
                <a:cs typeface="Arial"/>
              </a:rPr>
              <a:t>, </a:t>
            </a:r>
            <a:r>
              <a:rPr lang="en-US" sz="800" i="1" dirty="0">
                <a:solidFill>
                  <a:srgbClr val="7F7F7F"/>
                </a:solidFill>
                <a:latin typeface="Arial"/>
                <a:cs typeface="Arial"/>
              </a:rPr>
              <a:t>Core Reading: Operations Strategy</a:t>
            </a:r>
            <a:r>
              <a:rPr lang="en-US" sz="800" dirty="0">
                <a:solidFill>
                  <a:srgbClr val="7F7F7F"/>
                </a:solidFill>
                <a:latin typeface="Arial"/>
                <a:cs typeface="Arial"/>
              </a:rPr>
              <a:t>, HBP No. 8000 (Boston: Harvard Business School Publishing, 2013, 2024). </a:t>
            </a:r>
            <a:r>
              <a:rPr lang="en-US" sz="800" dirty="0">
                <a:solidFill>
                  <a:schemeClr val="bg1">
                    <a:lumMod val="50000"/>
                  </a:schemeClr>
                </a:solidFill>
                <a:latin typeface="Arial"/>
                <a:ea typeface="MS Mincho"/>
                <a:cs typeface="Arial"/>
              </a:rPr>
              <a:t>© </a:t>
            </a:r>
            <a:r>
              <a:rPr lang="en-US" sz="800" dirty="0">
                <a:solidFill>
                  <a:srgbClr val="7F7F7F"/>
                </a:solidFill>
                <a:latin typeface="Arial"/>
                <a:cs typeface="Arial"/>
              </a:rPr>
              <a:t>Copying or posting is an infringement of copyright. </a:t>
            </a:r>
          </a:p>
        </p:txBody>
      </p:sp>
    </p:spTree>
    <p:extLst>
      <p:ext uri="{BB962C8B-B14F-4D97-AF65-F5344CB8AC3E}">
        <p14:creationId xmlns:p14="http://schemas.microsoft.com/office/powerpoint/2010/main" val="720522954"/>
      </p:ext>
    </p:extLst>
  </p:cSld>
  <p:clrMapOvr>
    <a:masterClrMapping/>
  </p:clrMapOvr>
</p:sld>
</file>

<file path=ppt/theme/theme1.xml><?xml version="1.0" encoding="utf-8"?>
<a:theme xmlns:a="http://schemas.openxmlformats.org/drawingml/2006/main" name="CC_PP_updated 2_13_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CC_PP_updated 2_13_15.potx</Template>
  <TotalTime>0</TotalTime>
  <Words>825</Words>
  <Application>Microsoft Office PowerPoint</Application>
  <PresentationFormat>On-screen Show (4:3)</PresentationFormat>
  <Paragraphs>50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Black</vt:lpstr>
      <vt:lpstr>Calibri</vt:lpstr>
      <vt:lpstr>Gotham Black</vt:lpstr>
      <vt:lpstr>CC_PP_updated 2_13_15</vt:lpstr>
      <vt:lpstr>Operations Strategy</vt:lpstr>
      <vt:lpstr>Operations Strategy Connects Directed and Emergent Strategies </vt:lpstr>
      <vt:lpstr>Strategy Hierarchy</vt:lpstr>
      <vt:lpstr>Directed and Emergent Strategies</vt:lpstr>
      <vt:lpstr>Economies of Scale</vt:lpstr>
      <vt:lpstr>Learning Curve</vt:lpstr>
      <vt:lpstr>Aldi’s Resource-Based Operations Strategy Matrix (2012) </vt:lpstr>
      <vt:lpstr>Operations Decision Areas </vt:lpstr>
      <vt:lpstr>Microsoft STB’s Traditional Operations Strategy</vt:lpstr>
      <vt:lpstr>Microsoft STB’s Cloud Operations Strategy (2013)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Strategy</dc:title>
  <dc:creator/>
  <cp:lastModifiedBy/>
  <cp:revision>8</cp:revision>
  <dcterms:created xsi:type="dcterms:W3CDTF">2014-02-11T14:47:43Z</dcterms:created>
  <dcterms:modified xsi:type="dcterms:W3CDTF">2024-07-10T15:58:51Z</dcterms:modified>
</cp:coreProperties>
</file>